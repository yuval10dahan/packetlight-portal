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7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8.xml" ContentType="application/vnd.openxmlformats-officedocument.theme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  <p:sldMasterId id="2147483753" r:id="rId2"/>
    <p:sldMasterId id="2147483660" r:id="rId3"/>
    <p:sldMasterId id="2147483684" r:id="rId4"/>
    <p:sldMasterId id="2147483689" r:id="rId5"/>
    <p:sldMasterId id="2147483707" r:id="rId6"/>
    <p:sldMasterId id="2147483704" r:id="rId7"/>
    <p:sldMasterId id="2147483713" r:id="rId8"/>
    <p:sldMasterId id="2147483687" r:id="rId9"/>
    <p:sldMasterId id="2147483749" r:id="rId10"/>
  </p:sldMasterIdLst>
  <p:notesMasterIdLst>
    <p:notesMasterId r:id="rId32"/>
  </p:notesMasterIdLst>
  <p:handoutMasterIdLst>
    <p:handoutMasterId r:id="rId33"/>
  </p:handoutMasterIdLst>
  <p:sldIdLst>
    <p:sldId id="263" r:id="rId11"/>
    <p:sldId id="257" r:id="rId12"/>
    <p:sldId id="1181" r:id="rId13"/>
    <p:sldId id="2005" r:id="rId14"/>
    <p:sldId id="2007" r:id="rId15"/>
    <p:sldId id="1995" r:id="rId16"/>
    <p:sldId id="2008" r:id="rId17"/>
    <p:sldId id="2011" r:id="rId18"/>
    <p:sldId id="1992" r:id="rId19"/>
    <p:sldId id="1994" r:id="rId20"/>
    <p:sldId id="1993" r:id="rId21"/>
    <p:sldId id="1996" r:id="rId22"/>
    <p:sldId id="2012" r:id="rId23"/>
    <p:sldId id="2013" r:id="rId24"/>
    <p:sldId id="2014" r:id="rId25"/>
    <p:sldId id="2006" r:id="rId26"/>
    <p:sldId id="1998" r:id="rId27"/>
    <p:sldId id="1999" r:id="rId28"/>
    <p:sldId id="2000" r:id="rId29"/>
    <p:sldId id="2003" r:id="rId30"/>
    <p:sldId id="268" r:id="rId31"/>
  </p:sldIdLst>
  <p:sldSz cx="12192000" cy="6858000"/>
  <p:notesSz cx="7010400" cy="92964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lya Tsuker" initials="IT" lastIdx="4" clrIdx="0">
    <p:extLst>
      <p:ext uri="{19B8F6BF-5375-455C-9EA6-DF929625EA0E}">
        <p15:presenceInfo xmlns:p15="http://schemas.microsoft.com/office/powerpoint/2012/main" userId="S-1-5-21-2303127595-1591795869-1552880368-2934" providerId="AD"/>
      </p:ext>
    </p:extLst>
  </p:cmAuthor>
  <p:cmAuthor id="2" name="Konstantin Volovich" initials="KV" lastIdx="6" clrIdx="1">
    <p:extLst>
      <p:ext uri="{19B8F6BF-5375-455C-9EA6-DF929625EA0E}">
        <p15:presenceInfo xmlns:p15="http://schemas.microsoft.com/office/powerpoint/2012/main" userId="S-1-5-21-2303127595-1591795869-1552880368-67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D33C"/>
    <a:srgbClr val="002E4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7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9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2261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21" Type="http://schemas.openxmlformats.org/officeDocument/2006/relationships/slide" Target="slides/slide11.xml"/><Relationship Id="rId34" Type="http://schemas.openxmlformats.org/officeDocument/2006/relationships/commentAuthors" Target="commentAuthor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065CBC3-0356-44A4-AF54-FCEAC8F9B58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7DFD244-D820-4325-8F13-34891D44F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0327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9FFFFA-DEFA-4749-A3C5-C451C966726D}" type="datetimeFigureOut">
              <a:rPr lang="en-IL" smtClean="0"/>
              <a:t>01/01/2026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E9147-2C2F-4055-826A-B7D1EA433C4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70176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8200" y="4468202"/>
            <a:ext cx="10515600" cy="148712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E4F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151609"/>
            <a:ext cx="9144000" cy="61495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2200">
                <a:solidFill>
                  <a:schemeClr val="tx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835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rgbClr val="002E4F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6814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4063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0298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09979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rgbClr val="002E4F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2009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7496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14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8391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2437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799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5123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6668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9102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3152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10180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2953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909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6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7.jpe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8.jpe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9.jpe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10.jpeg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7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259015"/>
            <a:ext cx="12192000" cy="3598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4" r="5117"/>
          <a:stretch/>
        </p:blipFill>
        <p:spPr>
          <a:xfrm>
            <a:off x="4450729" y="3259015"/>
            <a:ext cx="3290542" cy="88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280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800" b="1" kern="1200" dirty="0">
          <a:solidFill>
            <a:srgbClr val="F6D33C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2397369"/>
            <a:ext cx="12192000" cy="20632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999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7" r:id="rId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800" b="1" kern="1200" dirty="0">
          <a:solidFill>
            <a:srgbClr val="F6D33C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440" y="1296000"/>
            <a:ext cx="10875120" cy="4845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8440" y="86082"/>
            <a:ext cx="10008000" cy="90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4000" y="-36000"/>
            <a:ext cx="574826" cy="6984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40" y="954818"/>
            <a:ext cx="10008000" cy="382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952" y="677382"/>
            <a:ext cx="1371005" cy="34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687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6" r:id="rId2"/>
    <p:sldLayoutId id="2147483756" r:id="rId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68288" indent="-268288" algn="l" defTabSz="914400" rtl="0" eaLnBrk="1" latinLnBrk="0" hangingPunct="1">
        <a:lnSpc>
          <a:spcPct val="100000"/>
        </a:lnSpc>
        <a:spcBef>
          <a:spcPts val="10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28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1pPr>
      <a:lvl2pPr marL="715963" indent="-258763" algn="l" defTabSz="914400" rtl="0" eaLnBrk="1" latinLnBrk="0" hangingPunct="1">
        <a:lnSpc>
          <a:spcPct val="100000"/>
        </a:lnSpc>
        <a:spcBef>
          <a:spcPts val="5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24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20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18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18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440" y="1296000"/>
            <a:ext cx="10875120" cy="4845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8440" y="86082"/>
            <a:ext cx="10008000" cy="90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4000" y="-36000"/>
            <a:ext cx="579965" cy="6984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40" y="954818"/>
            <a:ext cx="10008000" cy="382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952" y="677382"/>
            <a:ext cx="1371005" cy="34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27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68288" indent="-268288" algn="l" defTabSz="914400" rtl="0" eaLnBrk="1" latinLnBrk="0" hangingPunct="1">
        <a:lnSpc>
          <a:spcPct val="100000"/>
        </a:lnSpc>
        <a:spcBef>
          <a:spcPts val="10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28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1pPr>
      <a:lvl2pPr marL="715963" indent="-258763" algn="l" defTabSz="914400" rtl="0" eaLnBrk="1" latinLnBrk="0" hangingPunct="1">
        <a:lnSpc>
          <a:spcPct val="100000"/>
        </a:lnSpc>
        <a:spcBef>
          <a:spcPts val="5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24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20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18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18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440" y="1296000"/>
            <a:ext cx="10875120" cy="4845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8440" y="86082"/>
            <a:ext cx="10008000" cy="90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4000" y="-36000"/>
            <a:ext cx="579965" cy="6984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40" y="954818"/>
            <a:ext cx="10008000" cy="382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952" y="677382"/>
            <a:ext cx="1371005" cy="34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46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691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68288" indent="-268288" algn="l" defTabSz="914400" rtl="0" eaLnBrk="1" latinLnBrk="0" hangingPunct="1">
        <a:lnSpc>
          <a:spcPct val="100000"/>
        </a:lnSpc>
        <a:spcBef>
          <a:spcPts val="10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28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1pPr>
      <a:lvl2pPr marL="715963" indent="-258763" algn="l" defTabSz="914400" rtl="0" eaLnBrk="1" latinLnBrk="0" hangingPunct="1">
        <a:lnSpc>
          <a:spcPct val="100000"/>
        </a:lnSpc>
        <a:spcBef>
          <a:spcPts val="5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24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20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18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18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440" y="1296000"/>
            <a:ext cx="10875120" cy="4845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8440" y="86082"/>
            <a:ext cx="10008000" cy="90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4000" y="-36000"/>
            <a:ext cx="579967" cy="6984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40" y="954818"/>
            <a:ext cx="10008000" cy="382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952" y="677382"/>
            <a:ext cx="1371005" cy="34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235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68288" indent="-268288" algn="l" defTabSz="914400" rtl="0" eaLnBrk="1" latinLnBrk="0" hangingPunct="1">
        <a:lnSpc>
          <a:spcPct val="100000"/>
        </a:lnSpc>
        <a:spcBef>
          <a:spcPts val="10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28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1pPr>
      <a:lvl2pPr marL="715963" indent="-258763" algn="l" defTabSz="914400" rtl="0" eaLnBrk="1" latinLnBrk="0" hangingPunct="1">
        <a:lnSpc>
          <a:spcPct val="100000"/>
        </a:lnSpc>
        <a:spcBef>
          <a:spcPts val="5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24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20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18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18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440" y="1296000"/>
            <a:ext cx="10875120" cy="4845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8440" y="85766"/>
            <a:ext cx="10008000" cy="90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4000" y="-36000"/>
            <a:ext cx="579967" cy="6984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40" y="954818"/>
            <a:ext cx="10008000" cy="382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952" y="677382"/>
            <a:ext cx="1371005" cy="34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69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68288" indent="-268288" algn="l" defTabSz="914400" rtl="0" eaLnBrk="1" latinLnBrk="0" hangingPunct="1">
        <a:lnSpc>
          <a:spcPct val="100000"/>
        </a:lnSpc>
        <a:spcBef>
          <a:spcPts val="10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28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1pPr>
      <a:lvl2pPr marL="715963" indent="-258763" algn="l" defTabSz="914400" rtl="0" eaLnBrk="1" latinLnBrk="0" hangingPunct="1">
        <a:lnSpc>
          <a:spcPct val="100000"/>
        </a:lnSpc>
        <a:spcBef>
          <a:spcPts val="5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24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20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18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18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440" y="1296000"/>
            <a:ext cx="10875120" cy="4845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8440" y="85766"/>
            <a:ext cx="10008000" cy="90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4000" y="-36000"/>
            <a:ext cx="579967" cy="6984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40" y="954818"/>
            <a:ext cx="10008000" cy="382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952" y="677382"/>
            <a:ext cx="1371005" cy="34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01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68288" indent="-268288" algn="l" defTabSz="914400" rtl="0" eaLnBrk="1" latinLnBrk="0" hangingPunct="1">
        <a:lnSpc>
          <a:spcPct val="100000"/>
        </a:lnSpc>
        <a:spcBef>
          <a:spcPts val="10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28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1pPr>
      <a:lvl2pPr marL="715963" indent="-258763" algn="l" defTabSz="914400" rtl="0" eaLnBrk="1" latinLnBrk="0" hangingPunct="1">
        <a:lnSpc>
          <a:spcPct val="100000"/>
        </a:lnSpc>
        <a:spcBef>
          <a:spcPts val="5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24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20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18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2E4F"/>
        </a:buClr>
        <a:buSzPct val="100000"/>
        <a:buFont typeface="Wingdings" panose="05000000000000000000" pitchFamily="2" charset="2"/>
        <a:buChar char="§"/>
        <a:defRPr sz="1800" kern="1200">
          <a:solidFill>
            <a:srgbClr val="002E4F"/>
          </a:solidFill>
          <a:latin typeface="+mn-lt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641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14744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33" y="392535"/>
            <a:ext cx="2734467" cy="68942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243468" y="473898"/>
            <a:ext cx="8541236" cy="62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270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149421"/>
            <a:ext cx="10515600" cy="1487121"/>
          </a:xfrm>
        </p:spPr>
        <p:txBody>
          <a:bodyPr/>
          <a:lstStyle/>
          <a:p>
            <a:r>
              <a:rPr lang="en-US" dirty="0"/>
              <a:t>PL-4000T</a:t>
            </a:r>
            <a:br>
              <a:rPr lang="en-US" dirty="0"/>
            </a:br>
            <a:r>
              <a:rPr lang="en-US" dirty="0"/>
              <a:t>Feature – Version Tracking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459523"/>
            <a:ext cx="9144000" cy="307043"/>
          </a:xfrm>
        </p:spPr>
        <p:txBody>
          <a:bodyPr/>
          <a:lstStyle/>
          <a:p>
            <a:r>
              <a:rPr lang="en-US" dirty="0"/>
              <a:t>December 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220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Change log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75000"/>
                </a:schemeClr>
              </a:buClr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ea typeface="+mn-ea"/>
                <a:cs typeface="+mn-cs"/>
              </a:rPr>
              <a:t>Rev 1.0 11 December 2025 – Initial release version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75000"/>
                </a:schemeClr>
              </a:buClr>
              <a:buFont typeface="Arial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75000"/>
                </a:schemeClr>
              </a:buClr>
              <a:buFont typeface="Arial" pitchFamily="34" charset="0"/>
              <a:buChar char="•"/>
            </a:pPr>
            <a:endParaRPr lang="en-US" sz="2000" dirty="0">
              <a:solidFill>
                <a:schemeClr val="tx1"/>
              </a:solidFill>
              <a:ea typeface="+mn-ea"/>
              <a:cs typeface="+mn-cs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468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 Panel 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B15D8A8A-9046-4064-9EAB-24E0C05959F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59BA1C-B7D5-4427-A0D9-AB6A0FBCD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69" y="1119677"/>
            <a:ext cx="10000403" cy="1107056"/>
          </a:xfrm>
          <a:prstGeom prst="rect">
            <a:avLst/>
          </a:prstGeom>
        </p:spPr>
      </p:pic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BD07B620-4456-4AC9-8223-9D37AA0D1A38}"/>
              </a:ext>
            </a:extLst>
          </p:cNvPr>
          <p:cNvSpPr txBox="1">
            <a:spLocks/>
          </p:cNvSpPr>
          <p:nvPr/>
        </p:nvSpPr>
        <p:spPr bwMode="auto">
          <a:xfrm>
            <a:off x="409141" y="2276872"/>
            <a:ext cx="8626769" cy="4581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75000"/>
                </a:schemeClr>
              </a:buClr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75000"/>
                </a:schemeClr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75000"/>
                </a:schemeClr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4x Uplink Ports:</a:t>
            </a:r>
          </a:p>
          <a:p>
            <a:pPr lvl="1"/>
            <a:r>
              <a:rPr lang="en-US" sz="1400" dirty="0"/>
              <a:t>Uplink 1-4 : 4xCFP2-DCO or 4xQSFPDD-DCO </a:t>
            </a:r>
          </a:p>
          <a:p>
            <a:pPr lvl="1"/>
            <a:r>
              <a:rPr lang="en-US" sz="1400" dirty="0"/>
              <a:t>A mixture of uplink module types is not allowed</a:t>
            </a:r>
          </a:p>
          <a:p>
            <a:pPr lvl="1"/>
            <a:r>
              <a:rPr lang="en-US" sz="1400" dirty="0"/>
              <a:t>Using System mode user control if Acacia or Fujitsu uplinks (will affect GCC </a:t>
            </a:r>
            <a:r>
              <a:rPr lang="en-US" sz="1400"/>
              <a:t>and encryption)</a:t>
            </a:r>
            <a:endParaRPr lang="en-US" sz="1400" dirty="0"/>
          </a:p>
          <a:p>
            <a:r>
              <a:rPr lang="en-US" sz="1600" dirty="0"/>
              <a:t>16x Client Ports:</a:t>
            </a:r>
          </a:p>
          <a:p>
            <a:pPr lvl="1"/>
            <a:r>
              <a:rPr lang="en-US" sz="1400" dirty="0"/>
              <a:t>L1-L16: 100G QSFP28</a:t>
            </a:r>
          </a:p>
          <a:p>
            <a:pPr lvl="1"/>
            <a:r>
              <a:rPr lang="en-US" sz="1400" dirty="0"/>
              <a:t>L4,L8,L12,L16: optional 400G QSFP-DD  </a:t>
            </a:r>
          </a:p>
          <a:p>
            <a:r>
              <a:rPr lang="en-US" sz="1600" dirty="0"/>
              <a:t>MUX/DEMUX 4:1 Port:</a:t>
            </a:r>
          </a:p>
          <a:p>
            <a:pPr lvl="1"/>
            <a:r>
              <a:rPr lang="en-US" sz="1400" dirty="0"/>
              <a:t>MPO: Gathers 4x Uplinks + OSC</a:t>
            </a:r>
          </a:p>
          <a:p>
            <a:r>
              <a:rPr lang="en-US" sz="1600" dirty="0"/>
              <a:t>2x LC Ports:</a:t>
            </a:r>
          </a:p>
          <a:p>
            <a:pPr lvl="1"/>
            <a:r>
              <a:rPr lang="en-US" sz="1400" dirty="0"/>
              <a:t>When no OSC is installed, the COM is connected to line</a:t>
            </a:r>
          </a:p>
          <a:p>
            <a:pPr lvl="1"/>
            <a:r>
              <a:rPr lang="en-US" sz="1400" dirty="0"/>
              <a:t>When OSW is installed, COM/1 &amp; COM2 shall be connected to Line</a:t>
            </a:r>
          </a:p>
          <a:p>
            <a:r>
              <a:rPr lang="en-US" sz="1600" dirty="0"/>
              <a:t>Management ports</a:t>
            </a:r>
          </a:p>
          <a:p>
            <a:pPr lvl="1"/>
            <a:r>
              <a:rPr lang="en-US" sz="1400" dirty="0"/>
              <a:t>2x SFP: MNG1 and MNG2 </a:t>
            </a:r>
          </a:p>
          <a:p>
            <a:pPr lvl="1"/>
            <a:r>
              <a:rPr lang="en-US" sz="1400" dirty="0"/>
              <a:t>2x RJ45 for LAN1, LAN2 </a:t>
            </a:r>
          </a:p>
          <a:p>
            <a:pPr lvl="1"/>
            <a:r>
              <a:rPr lang="en-US" sz="1400" dirty="0"/>
              <a:t>RJ45 for CLI - local Management </a:t>
            </a:r>
          </a:p>
          <a:p>
            <a:pPr lvl="1"/>
            <a:r>
              <a:rPr lang="en-US" sz="1400" dirty="0"/>
              <a:t>RJ45 for External Alarms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4050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70E32-E972-4A1A-AE56-B0D31238A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Interoperability with other devices</a:t>
            </a:r>
            <a:endParaRPr lang="en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AA4CCB-509C-4D1B-B232-5D03C21AA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PL-4000T can be Interoperability with the following devices:</a:t>
            </a:r>
          </a:p>
          <a:p>
            <a:pPr lvl="1"/>
            <a:r>
              <a:rPr lang="en-US" dirty="0"/>
              <a:t>PL-4000G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PL-2000T (need to be verified)</a:t>
            </a:r>
          </a:p>
          <a:p>
            <a:r>
              <a:rPr lang="en-US" b="1" u="sng" dirty="0"/>
              <a:t>Uplink modes need to be the same in both devices</a:t>
            </a:r>
          </a:p>
        </p:txBody>
      </p:sp>
    </p:spTree>
    <p:extLst>
      <p:ext uri="{BB962C8B-B14F-4D97-AF65-F5344CB8AC3E}">
        <p14:creationId xmlns:p14="http://schemas.microsoft.com/office/powerpoint/2010/main" val="3092559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4BFD-979D-4609-8F65-4E56CCB31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PL-4000G – PL-4000T Interoperability </a:t>
            </a:r>
            <a:endParaRPr lang="en-IL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1FB8CE7-F5CD-4385-8802-CB5D9A1BC4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993641"/>
              </p:ext>
            </p:extLst>
          </p:nvPr>
        </p:nvGraphicFramePr>
        <p:xfrm>
          <a:off x="1066800" y="1323482"/>
          <a:ext cx="8797422" cy="4715313"/>
        </p:xfrm>
        <a:graphic>
          <a:graphicData uri="http://schemas.openxmlformats.org/drawingml/2006/table">
            <a:tbl>
              <a:tblPr firstRow="1" firstCol="1" bandRow="1">
                <a:tableStyleId>{6E25E649-3F16-4E02-A733-19D2CDBF48F0}</a:tableStyleId>
              </a:tblPr>
              <a:tblGrid>
                <a:gridCol w="926847">
                  <a:extLst>
                    <a:ext uri="{9D8B030D-6E8A-4147-A177-3AD203B41FA5}">
                      <a16:colId xmlns:a16="http://schemas.microsoft.com/office/drawing/2014/main" val="2424634048"/>
                    </a:ext>
                  </a:extLst>
                </a:gridCol>
                <a:gridCol w="623635">
                  <a:extLst>
                    <a:ext uri="{9D8B030D-6E8A-4147-A177-3AD203B41FA5}">
                      <a16:colId xmlns:a16="http://schemas.microsoft.com/office/drawing/2014/main" val="1723131957"/>
                    </a:ext>
                  </a:extLst>
                </a:gridCol>
                <a:gridCol w="1472589">
                  <a:extLst>
                    <a:ext uri="{9D8B030D-6E8A-4147-A177-3AD203B41FA5}">
                      <a16:colId xmlns:a16="http://schemas.microsoft.com/office/drawing/2014/main" val="2280414748"/>
                    </a:ext>
                  </a:extLst>
                </a:gridCol>
                <a:gridCol w="958083">
                  <a:extLst>
                    <a:ext uri="{9D8B030D-6E8A-4147-A177-3AD203B41FA5}">
                      <a16:colId xmlns:a16="http://schemas.microsoft.com/office/drawing/2014/main" val="3799124399"/>
                    </a:ext>
                  </a:extLst>
                </a:gridCol>
                <a:gridCol w="542819">
                  <a:extLst>
                    <a:ext uri="{9D8B030D-6E8A-4147-A177-3AD203B41FA5}">
                      <a16:colId xmlns:a16="http://schemas.microsoft.com/office/drawing/2014/main" val="1772010487"/>
                    </a:ext>
                  </a:extLst>
                </a:gridCol>
                <a:gridCol w="1352451">
                  <a:extLst>
                    <a:ext uri="{9D8B030D-6E8A-4147-A177-3AD203B41FA5}">
                      <a16:colId xmlns:a16="http://schemas.microsoft.com/office/drawing/2014/main" val="1796505273"/>
                    </a:ext>
                  </a:extLst>
                </a:gridCol>
                <a:gridCol w="2920998">
                  <a:extLst>
                    <a:ext uri="{9D8B030D-6E8A-4147-A177-3AD203B41FA5}">
                      <a16:colId xmlns:a16="http://schemas.microsoft.com/office/drawing/2014/main" val="1232037134"/>
                    </a:ext>
                  </a:extLst>
                </a:gridCol>
              </a:tblGrid>
              <a:tr h="113561">
                <a:tc>
                  <a:txBody>
                    <a:bodyPr/>
                    <a:lstStyle/>
                    <a:p>
                      <a:pPr algn="ctr"/>
                      <a:r>
                        <a:rPr lang="en-IL" sz="800" dirty="0">
                          <a:effectLst/>
                        </a:rPr>
                        <a:t> </a:t>
                      </a: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800">
                          <a:effectLst/>
                        </a:rPr>
                        <a:t> </a:t>
                      </a:r>
                      <a:endParaRPr lang="en-I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r>
                        <a:rPr lang="en-IL" sz="800" dirty="0">
                          <a:effectLst/>
                        </a:rPr>
                        <a:t> </a:t>
                      </a:r>
                      <a:endParaRPr lang="en-IL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r>
                        <a:rPr lang="en-IL" sz="800">
                          <a:effectLst/>
                        </a:rPr>
                        <a:t> </a:t>
                      </a:r>
                      <a:endParaRPr lang="en-I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800" dirty="0">
                          <a:effectLst/>
                        </a:rPr>
                        <a:t> </a:t>
                      </a:r>
                      <a:endParaRPr lang="en-IL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1800" dirty="0">
                          <a:effectLst/>
                        </a:rPr>
                        <a:t>PL-4000G QS</a:t>
                      </a:r>
                      <a:r>
                        <a:rPr lang="en-US" sz="1800" dirty="0">
                          <a:effectLst/>
                        </a:rPr>
                        <a:t>FP</a:t>
                      </a:r>
                      <a:r>
                        <a:rPr lang="en-IL" sz="1800" dirty="0">
                          <a:effectLst/>
                        </a:rPr>
                        <a:t>DD</a:t>
                      </a:r>
                      <a:endParaRPr lang="en-IL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h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11141"/>
                  </a:ext>
                </a:extLst>
              </a:tr>
              <a:tr h="163773">
                <a:tc>
                  <a:txBody>
                    <a:bodyPr/>
                    <a:lstStyle/>
                    <a:p>
                      <a:pPr algn="ctr"/>
                      <a:r>
                        <a:rPr lang="en-IL" sz="800">
                          <a:effectLst/>
                        </a:rPr>
                        <a:t> </a:t>
                      </a:r>
                      <a:endParaRPr lang="en-IL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sng" dirty="0">
                          <a:effectLst/>
                        </a:rPr>
                        <a:t>U</a:t>
                      </a:r>
                      <a:r>
                        <a:rPr lang="en-IL" sz="1200" b="1" u="sng" dirty="0">
                          <a:effectLst/>
                        </a:rPr>
                        <a:t>plink</a:t>
                      </a:r>
                      <a:endParaRPr lang="en-IL" sz="1200" b="1" u="sng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200" b="1" u="sng" dirty="0">
                          <a:effectLst/>
                        </a:rPr>
                        <a:t>Service type</a:t>
                      </a:r>
                      <a:endParaRPr lang="en-IL" sz="1200" b="1" u="sng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200" b="1" u="sng">
                          <a:effectLst/>
                        </a:rPr>
                        <a:t>modulation</a:t>
                      </a:r>
                      <a:endParaRPr lang="en-IL" sz="1200" b="1" u="sng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200" b="1" u="sng">
                          <a:effectLst/>
                        </a:rPr>
                        <a:t>client</a:t>
                      </a:r>
                      <a:endParaRPr lang="en-IL" sz="1200" b="1" u="sng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200" b="1" u="sng">
                          <a:effectLst/>
                        </a:rPr>
                        <a:t>100G</a:t>
                      </a:r>
                      <a:endParaRPr lang="en-IL" sz="1200" b="1" u="sng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200" b="1" u="sng" dirty="0">
                          <a:effectLst/>
                        </a:rPr>
                        <a:t>400G</a:t>
                      </a:r>
                      <a:endParaRPr lang="en-IL" sz="1200" b="1" u="sng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extLst>
                  <a:ext uri="{0D108BD9-81ED-4DB2-BD59-A6C34878D82A}">
                    <a16:rowId xmlns:a16="http://schemas.microsoft.com/office/drawing/2014/main" val="3478606891"/>
                  </a:ext>
                </a:extLst>
              </a:tr>
              <a:tr h="163773">
                <a:tc rowSpan="21">
                  <a:txBody>
                    <a:bodyPr/>
                    <a:lstStyle/>
                    <a:p>
                      <a:r>
                        <a:rPr lang="en-IL" sz="1800" dirty="0">
                          <a:effectLst/>
                        </a:rPr>
                        <a:t>PL4000T</a:t>
                      </a:r>
                      <a:endParaRPr lang="en-IL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rowSpan="8">
                  <a:txBody>
                    <a:bodyPr/>
                    <a:lstStyle/>
                    <a:p>
                      <a:r>
                        <a:rPr lang="en-IL" sz="1200" b="1" dirty="0">
                          <a:effectLst/>
                        </a:rPr>
                        <a:t>QS</a:t>
                      </a:r>
                      <a:r>
                        <a:rPr lang="en-US" sz="1200" b="1" dirty="0">
                          <a:effectLst/>
                        </a:rPr>
                        <a:t>FP</a:t>
                      </a:r>
                      <a:r>
                        <a:rPr lang="en-IL" sz="1200" b="1" dirty="0">
                          <a:effectLst/>
                        </a:rPr>
                        <a:t>DD</a:t>
                      </a:r>
                      <a:endParaRPr lang="en-IL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</a:rPr>
                        <a:t>400G </a:t>
                      </a:r>
                      <a:r>
                        <a:rPr lang="en-IL" sz="1000" dirty="0" err="1">
                          <a:effectLst/>
                        </a:rPr>
                        <a:t>OpenZR</a:t>
                      </a:r>
                      <a:r>
                        <a:rPr lang="en-IL" sz="1000" dirty="0">
                          <a:effectLst/>
                        </a:rPr>
                        <a:t>+</a:t>
                      </a:r>
                      <a:endParaRPr lang="en-I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effectLst/>
                        </a:rPr>
                        <a:t>16QAM</a:t>
                      </a:r>
                      <a:endParaRPr lang="en-I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rowSpan="16">
                  <a:txBody>
                    <a:bodyPr/>
                    <a:lstStyle/>
                    <a:p>
                      <a:pPr algn="ctr"/>
                      <a:r>
                        <a:rPr lang="en-IL" sz="1200" b="1" u="sng" dirty="0">
                          <a:effectLst/>
                        </a:rPr>
                        <a:t>100G</a:t>
                      </a:r>
                      <a:endParaRPr lang="en-IL" sz="1200" b="1" u="sng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  <a:highlight>
                            <a:srgbClr val="00FF00"/>
                          </a:highlight>
                        </a:rPr>
                        <a:t> Traffic run</a:t>
                      </a:r>
                      <a:endParaRPr lang="en-IL" sz="1000" dirty="0"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rowSpan="16"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</a:rPr>
                        <a:t>NA</a:t>
                      </a:r>
                      <a:endParaRPr lang="en-I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extLst>
                  <a:ext uri="{0D108BD9-81ED-4DB2-BD59-A6C34878D82A}">
                    <a16:rowId xmlns:a16="http://schemas.microsoft.com/office/drawing/2014/main" val="2118544310"/>
                  </a:ext>
                </a:extLst>
              </a:tr>
              <a:tr h="163773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</a:rPr>
                        <a:t>300G </a:t>
                      </a:r>
                      <a:r>
                        <a:rPr lang="en-IL" sz="1000" dirty="0" err="1">
                          <a:effectLst/>
                        </a:rPr>
                        <a:t>OpenZR</a:t>
                      </a:r>
                      <a:r>
                        <a:rPr lang="en-IL" sz="1000" dirty="0">
                          <a:effectLst/>
                        </a:rPr>
                        <a:t>+</a:t>
                      </a:r>
                      <a:endParaRPr lang="en-I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effectLst/>
                        </a:rPr>
                        <a:t>8QAM</a:t>
                      </a:r>
                      <a:endParaRPr lang="en-I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effectLst/>
                          <a:highlight>
                            <a:srgbClr val="00FF00"/>
                          </a:highlight>
                        </a:rPr>
                        <a:t> Traffic run</a:t>
                      </a:r>
                      <a:endParaRPr lang="en-IL" sz="1000"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456261"/>
                  </a:ext>
                </a:extLst>
              </a:tr>
              <a:tr h="163773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</a:rPr>
                        <a:t>200G </a:t>
                      </a:r>
                      <a:r>
                        <a:rPr lang="en-IL" sz="1000" dirty="0" err="1">
                          <a:effectLst/>
                        </a:rPr>
                        <a:t>OpenZR</a:t>
                      </a:r>
                      <a:r>
                        <a:rPr lang="en-IL" sz="1000" dirty="0">
                          <a:effectLst/>
                        </a:rPr>
                        <a:t>+</a:t>
                      </a:r>
                      <a:endParaRPr lang="en-I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effectLst/>
                        </a:rPr>
                        <a:t>8QAM</a:t>
                      </a:r>
                      <a:endParaRPr lang="en-I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  <a:highlight>
                            <a:srgbClr val="00FF00"/>
                          </a:highlight>
                        </a:rPr>
                        <a:t> Traffic run</a:t>
                      </a:r>
                      <a:endParaRPr lang="en-IL" sz="1000" dirty="0"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638403"/>
                  </a:ext>
                </a:extLst>
              </a:tr>
              <a:tr h="163773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effectLst/>
                        </a:rPr>
                        <a:t>200G OpenZR+</a:t>
                      </a:r>
                      <a:endParaRPr lang="en-I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effectLst/>
                        </a:rPr>
                        <a:t>QPSK</a:t>
                      </a:r>
                      <a:endParaRPr lang="en-I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  <a:highlight>
                            <a:srgbClr val="00FF00"/>
                          </a:highlight>
                        </a:rPr>
                        <a:t> Traffic run</a:t>
                      </a:r>
                      <a:endParaRPr lang="en-IL" sz="1000" dirty="0"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21537"/>
                  </a:ext>
                </a:extLst>
              </a:tr>
              <a:tr h="245661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</a:rPr>
                        <a:t>400G </a:t>
                      </a:r>
                      <a:r>
                        <a:rPr lang="en-IL" sz="1000" dirty="0" err="1">
                          <a:effectLst/>
                        </a:rPr>
                        <a:t>OpenROADM</a:t>
                      </a:r>
                      <a:endParaRPr lang="en-I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</a:rPr>
                        <a:t>16QAM</a:t>
                      </a:r>
                      <a:endParaRPr lang="en-I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effectLst/>
                          <a:highlight>
                            <a:srgbClr val="00FF00"/>
                          </a:highlight>
                        </a:rPr>
                        <a:t> Traffic run</a:t>
                      </a:r>
                      <a:endParaRPr lang="en-IL" sz="1000"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327022"/>
                  </a:ext>
                </a:extLst>
              </a:tr>
              <a:tr h="245661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</a:rPr>
                        <a:t>300G </a:t>
                      </a:r>
                      <a:r>
                        <a:rPr lang="en-IL" sz="1000" dirty="0" err="1">
                          <a:effectLst/>
                        </a:rPr>
                        <a:t>OpenROADM</a:t>
                      </a:r>
                      <a:endParaRPr lang="en-I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effectLst/>
                        </a:rPr>
                        <a:t>8QAM</a:t>
                      </a:r>
                      <a:endParaRPr lang="en-I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  <a:highlight>
                            <a:srgbClr val="00FF00"/>
                          </a:highlight>
                        </a:rPr>
                        <a:t> Traffic run</a:t>
                      </a:r>
                      <a:endParaRPr lang="en-IL" sz="1000" dirty="0"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380869"/>
                  </a:ext>
                </a:extLst>
              </a:tr>
              <a:tr h="245661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</a:rPr>
                        <a:t>200G </a:t>
                      </a:r>
                      <a:r>
                        <a:rPr lang="en-IL" sz="1000" dirty="0" err="1">
                          <a:effectLst/>
                        </a:rPr>
                        <a:t>OpenROADM</a:t>
                      </a:r>
                      <a:endParaRPr lang="en-I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</a:rPr>
                        <a:t>8QAM</a:t>
                      </a:r>
                      <a:endParaRPr lang="en-I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  <a:highlight>
                            <a:srgbClr val="00FF00"/>
                          </a:highlight>
                        </a:rPr>
                        <a:t> Traffic run</a:t>
                      </a:r>
                      <a:endParaRPr lang="en-IL" sz="1000" dirty="0"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277915"/>
                  </a:ext>
                </a:extLst>
              </a:tr>
              <a:tr h="245661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effectLst/>
                        </a:rPr>
                        <a:t>200G OpenROADM</a:t>
                      </a:r>
                      <a:endParaRPr lang="en-I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</a:rPr>
                        <a:t>QPSK</a:t>
                      </a:r>
                      <a:endParaRPr lang="en-I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effectLst/>
                          <a:highlight>
                            <a:srgbClr val="00FF00"/>
                          </a:highlight>
                        </a:rPr>
                        <a:t> Traffic run</a:t>
                      </a:r>
                      <a:endParaRPr lang="en-IL" sz="1000"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736807"/>
                  </a:ext>
                </a:extLst>
              </a:tr>
              <a:tr h="163773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en-IL" sz="1200" b="1" dirty="0">
                          <a:effectLst/>
                        </a:rPr>
                        <a:t>CFP2</a:t>
                      </a:r>
                      <a:endParaRPr lang="en-IL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effectLst/>
                        </a:rPr>
                        <a:t>400G OpenZR+</a:t>
                      </a:r>
                      <a:endParaRPr lang="en-I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</a:rPr>
                        <a:t>16QAM</a:t>
                      </a:r>
                      <a:endParaRPr lang="en-I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  <a:highlight>
                            <a:srgbClr val="00FF00"/>
                          </a:highlight>
                        </a:rPr>
                        <a:t> Traffic run</a:t>
                      </a:r>
                      <a:endParaRPr lang="en-IL" sz="1000" dirty="0"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985626"/>
                  </a:ext>
                </a:extLst>
              </a:tr>
              <a:tr h="163773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</a:rPr>
                        <a:t>300G </a:t>
                      </a:r>
                      <a:r>
                        <a:rPr lang="en-IL" sz="1000" dirty="0" err="1">
                          <a:effectLst/>
                        </a:rPr>
                        <a:t>OpenZR</a:t>
                      </a:r>
                      <a:r>
                        <a:rPr lang="en-IL" sz="1000" dirty="0">
                          <a:effectLst/>
                        </a:rPr>
                        <a:t>+</a:t>
                      </a:r>
                      <a:endParaRPr lang="en-I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</a:rPr>
                        <a:t>8QAM</a:t>
                      </a:r>
                      <a:endParaRPr lang="en-I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effectLst/>
                          <a:highlight>
                            <a:srgbClr val="00FF00"/>
                          </a:highlight>
                        </a:rPr>
                        <a:t> Traffic run</a:t>
                      </a:r>
                      <a:endParaRPr lang="en-IL" sz="1000"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89362"/>
                  </a:ext>
                </a:extLst>
              </a:tr>
              <a:tr h="163773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effectLst/>
                        </a:rPr>
                        <a:t>200G OpenZR+</a:t>
                      </a:r>
                      <a:endParaRPr lang="en-I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</a:rPr>
                        <a:t>8QAM</a:t>
                      </a:r>
                      <a:endParaRPr lang="en-I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effectLst/>
                          <a:highlight>
                            <a:srgbClr val="00FF00"/>
                          </a:highlight>
                        </a:rPr>
                        <a:t> Traffic run</a:t>
                      </a:r>
                      <a:endParaRPr lang="en-IL" sz="1000"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077901"/>
                  </a:ext>
                </a:extLst>
              </a:tr>
              <a:tr h="163773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effectLst/>
                        </a:rPr>
                        <a:t>200G OpenZR+</a:t>
                      </a:r>
                      <a:endParaRPr lang="en-I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</a:rPr>
                        <a:t>QPSK</a:t>
                      </a:r>
                      <a:endParaRPr lang="en-I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  <a:highlight>
                            <a:srgbClr val="00FF00"/>
                          </a:highlight>
                        </a:rPr>
                        <a:t> Traffic run</a:t>
                      </a:r>
                      <a:endParaRPr lang="en-IL" sz="1000" dirty="0"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249442"/>
                  </a:ext>
                </a:extLst>
              </a:tr>
              <a:tr h="245661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effectLst/>
                        </a:rPr>
                        <a:t>400G OpenROADM</a:t>
                      </a:r>
                      <a:endParaRPr lang="en-I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</a:rPr>
                        <a:t>16QAM</a:t>
                      </a:r>
                      <a:endParaRPr lang="en-I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  <a:highlight>
                            <a:srgbClr val="00FF00"/>
                          </a:highlight>
                        </a:rPr>
                        <a:t> Traffic run</a:t>
                      </a:r>
                      <a:endParaRPr lang="en-IL" sz="1000" dirty="0"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615065"/>
                  </a:ext>
                </a:extLst>
              </a:tr>
              <a:tr h="245661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effectLst/>
                        </a:rPr>
                        <a:t>300G OpenROADM</a:t>
                      </a:r>
                      <a:endParaRPr lang="en-I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</a:rPr>
                        <a:t>8QAM</a:t>
                      </a:r>
                      <a:endParaRPr lang="en-I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  <a:highlight>
                            <a:srgbClr val="00FF00"/>
                          </a:highlight>
                        </a:rPr>
                        <a:t> Traffic run</a:t>
                      </a:r>
                      <a:endParaRPr lang="en-IL" sz="1000" dirty="0"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790674"/>
                  </a:ext>
                </a:extLst>
              </a:tr>
              <a:tr h="245661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effectLst/>
                        </a:rPr>
                        <a:t>200G OpenROADM</a:t>
                      </a:r>
                      <a:endParaRPr lang="en-I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</a:rPr>
                        <a:t>8QAM</a:t>
                      </a:r>
                      <a:endParaRPr lang="en-I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  <a:highlight>
                            <a:srgbClr val="00FF00"/>
                          </a:highlight>
                        </a:rPr>
                        <a:t>Traffic run</a:t>
                      </a:r>
                      <a:endParaRPr lang="en-IL" sz="1000" dirty="0"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417431"/>
                  </a:ext>
                </a:extLst>
              </a:tr>
              <a:tr h="245661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effectLst/>
                        </a:rPr>
                        <a:t>200G OpenROADM</a:t>
                      </a:r>
                      <a:endParaRPr lang="en-I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</a:rPr>
                        <a:t>QPSK</a:t>
                      </a:r>
                      <a:endParaRPr lang="en-I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  <a:highlight>
                            <a:srgbClr val="00FF00"/>
                          </a:highlight>
                        </a:rPr>
                        <a:t>Traffic run</a:t>
                      </a:r>
                      <a:endParaRPr lang="en-IL" sz="1000" dirty="0"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817521"/>
                  </a:ext>
                </a:extLst>
              </a:tr>
              <a:tr h="163773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1200" b="1" dirty="0">
                          <a:effectLst/>
                        </a:rPr>
                        <a:t>QS</a:t>
                      </a:r>
                      <a:r>
                        <a:rPr lang="en-US" sz="1200" b="1" dirty="0">
                          <a:effectLst/>
                        </a:rPr>
                        <a:t>FP</a:t>
                      </a:r>
                      <a:r>
                        <a:rPr lang="en-IL" sz="1200" b="1" dirty="0">
                          <a:effectLst/>
                        </a:rPr>
                        <a:t>DD</a:t>
                      </a:r>
                      <a:endParaRPr lang="en-IL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effectLst/>
                        </a:rPr>
                        <a:t>400G OIF ZR</a:t>
                      </a:r>
                      <a:endParaRPr lang="en-I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</a:rPr>
                        <a:t>16QAM</a:t>
                      </a:r>
                      <a:endParaRPr lang="en-I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IL" sz="1200" b="1" u="sng" dirty="0">
                          <a:effectLst/>
                        </a:rPr>
                        <a:t>400G</a:t>
                      </a:r>
                      <a:endParaRPr lang="en-IL" sz="1200" b="1" u="sng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IL" sz="1000">
                          <a:effectLst/>
                        </a:rPr>
                        <a:t>NA</a:t>
                      </a:r>
                      <a:endParaRPr lang="en-I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  <a:highlight>
                            <a:srgbClr val="00FF00"/>
                          </a:highlight>
                        </a:rPr>
                        <a:t> Traffic run</a:t>
                      </a:r>
                      <a:endParaRPr lang="en-IL" sz="1000" dirty="0"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extLst>
                  <a:ext uri="{0D108BD9-81ED-4DB2-BD59-A6C34878D82A}">
                    <a16:rowId xmlns:a16="http://schemas.microsoft.com/office/drawing/2014/main" val="741476302"/>
                  </a:ext>
                </a:extLst>
              </a:tr>
              <a:tr h="163773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effectLst/>
                        </a:rPr>
                        <a:t>400G OpenZR+</a:t>
                      </a:r>
                      <a:endParaRPr lang="en-I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</a:rPr>
                        <a:t>16QAM</a:t>
                      </a:r>
                      <a:endParaRPr lang="en-I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  <a:highlight>
                            <a:srgbClr val="00FF00"/>
                          </a:highlight>
                        </a:rPr>
                        <a:t> Traffic run</a:t>
                      </a:r>
                      <a:endParaRPr lang="en-IL" sz="1000" dirty="0"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extLst>
                  <a:ext uri="{0D108BD9-81ED-4DB2-BD59-A6C34878D82A}">
                    <a16:rowId xmlns:a16="http://schemas.microsoft.com/office/drawing/2014/main" val="1928987430"/>
                  </a:ext>
                </a:extLst>
              </a:tr>
              <a:tr h="245661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effectLst/>
                        </a:rPr>
                        <a:t>400G OpenROADM</a:t>
                      </a:r>
                      <a:endParaRPr lang="en-I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</a:rPr>
                        <a:t>16QAM</a:t>
                      </a:r>
                      <a:endParaRPr lang="en-I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L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</a:rPr>
                        <a:t>Traffic run</a:t>
                      </a:r>
                      <a:endParaRPr lang="en-IL" sz="1000" dirty="0"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extLst>
                  <a:ext uri="{0D108BD9-81ED-4DB2-BD59-A6C34878D82A}">
                    <a16:rowId xmlns:a16="http://schemas.microsoft.com/office/drawing/2014/main" val="2738931689"/>
                  </a:ext>
                </a:extLst>
              </a:tr>
              <a:tr h="163773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IL" sz="1200" b="1" dirty="0">
                          <a:effectLst/>
                        </a:rPr>
                        <a:t>CFP2</a:t>
                      </a:r>
                      <a:endParaRPr lang="en-IL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effectLst/>
                        </a:rPr>
                        <a:t>400G OpenZR+</a:t>
                      </a:r>
                      <a:endParaRPr lang="en-I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</a:rPr>
                        <a:t>16QAM</a:t>
                      </a:r>
                      <a:endParaRPr lang="en-I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L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</a:rPr>
                        <a:t>Traffic run</a:t>
                      </a:r>
                      <a:endParaRPr lang="en-IL" sz="1000" dirty="0"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extLst>
                  <a:ext uri="{0D108BD9-81ED-4DB2-BD59-A6C34878D82A}">
                    <a16:rowId xmlns:a16="http://schemas.microsoft.com/office/drawing/2014/main" val="1977901069"/>
                  </a:ext>
                </a:extLst>
              </a:tr>
              <a:tr h="245661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>
                          <a:effectLst/>
                        </a:rPr>
                        <a:t>400G OpenROADM</a:t>
                      </a:r>
                      <a:endParaRPr lang="en-IL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000" dirty="0">
                          <a:effectLst/>
                        </a:rPr>
                        <a:t>16QAM</a:t>
                      </a:r>
                      <a:endParaRPr lang="en-IL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IL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00FF00"/>
                          </a:highlight>
                          <a:uLnTx/>
                          <a:uFillTx/>
                        </a:rPr>
                        <a:t>Traffic run</a:t>
                      </a:r>
                      <a:endParaRPr lang="en-IL" sz="1000" dirty="0"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9561" marR="39561" marT="0" marB="0" anchor="ctr"/>
                </a:tc>
                <a:extLst>
                  <a:ext uri="{0D108BD9-81ED-4DB2-BD59-A6C34878D82A}">
                    <a16:rowId xmlns:a16="http://schemas.microsoft.com/office/drawing/2014/main" val="933543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4800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A003FD-2634-4645-9292-E6433426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 - Version 2.2.22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95838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EE0F0-C2D7-4CFF-B2CB-B69D2B653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Uplink supported 1/3</a:t>
            </a:r>
            <a:endParaRPr lang="en-IL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D43E47D3-5D24-4DEB-A1EE-BCB56B610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722109"/>
              </p:ext>
            </p:extLst>
          </p:nvPr>
        </p:nvGraphicFramePr>
        <p:xfrm>
          <a:off x="74240" y="1075267"/>
          <a:ext cx="11327682" cy="445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3796">
                  <a:extLst>
                    <a:ext uri="{9D8B030D-6E8A-4147-A177-3AD203B41FA5}">
                      <a16:colId xmlns:a16="http://schemas.microsoft.com/office/drawing/2014/main" val="1184983519"/>
                    </a:ext>
                  </a:extLst>
                </a:gridCol>
                <a:gridCol w="2157730">
                  <a:extLst>
                    <a:ext uri="{9D8B030D-6E8A-4147-A177-3AD203B41FA5}">
                      <a16:colId xmlns:a16="http://schemas.microsoft.com/office/drawing/2014/main" val="2251441578"/>
                    </a:ext>
                  </a:extLst>
                </a:gridCol>
                <a:gridCol w="2066735">
                  <a:extLst>
                    <a:ext uri="{9D8B030D-6E8A-4147-A177-3AD203B41FA5}">
                      <a16:colId xmlns:a16="http://schemas.microsoft.com/office/drawing/2014/main" val="1334921683"/>
                    </a:ext>
                  </a:extLst>
                </a:gridCol>
                <a:gridCol w="1196721">
                  <a:extLst>
                    <a:ext uri="{9D8B030D-6E8A-4147-A177-3AD203B41FA5}">
                      <a16:colId xmlns:a16="http://schemas.microsoft.com/office/drawing/2014/main" val="1075769305"/>
                    </a:ext>
                  </a:extLst>
                </a:gridCol>
                <a:gridCol w="2712700">
                  <a:extLst>
                    <a:ext uri="{9D8B030D-6E8A-4147-A177-3AD203B41FA5}">
                      <a16:colId xmlns:a16="http://schemas.microsoft.com/office/drawing/2014/main" val="33152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Uplink Type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Uplink modes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PM Supported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Alpha test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Comment</a:t>
                      </a:r>
                      <a:endParaRPr lang="en-IL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31619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ACACIA CFP2 (M30/M35)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OpenROADM</a:t>
                      </a:r>
                      <a:r>
                        <a:rPr lang="en-US" sz="1600" b="1" dirty="0"/>
                        <a:t>:</a:t>
                      </a:r>
                    </a:p>
                    <a:p>
                      <a:r>
                        <a:rPr lang="en-US" sz="1600" dirty="0"/>
                        <a:t>▪ 200G </a:t>
                      </a:r>
                      <a:r>
                        <a:rPr lang="en-US" sz="1600" dirty="0" err="1"/>
                        <a:t>OpenROADM</a:t>
                      </a:r>
                      <a:endParaRPr lang="en-US" sz="1600" dirty="0"/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8QAM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QPSK</a:t>
                      </a:r>
                    </a:p>
                    <a:p>
                      <a:r>
                        <a:rPr lang="en-US" sz="1600" dirty="0"/>
                        <a:t>▪ 300G </a:t>
                      </a:r>
                      <a:r>
                        <a:rPr lang="en-US" sz="1600" dirty="0" err="1"/>
                        <a:t>OpenROADM</a:t>
                      </a:r>
                      <a:endParaRPr lang="en-US" sz="1600" dirty="0"/>
                    </a:p>
                    <a:p>
                      <a:r>
                        <a:rPr lang="en-US" sz="1600" dirty="0"/>
                        <a:t>▪ 400G </a:t>
                      </a:r>
                      <a:r>
                        <a:rPr lang="en-US" sz="1600" dirty="0" err="1"/>
                        <a:t>OpenROADM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err="1"/>
                        <a:t>OpenROADM</a:t>
                      </a:r>
                      <a:r>
                        <a:rPr lang="en-US" sz="1600" b="1" dirty="0"/>
                        <a:t>:</a:t>
                      </a:r>
                      <a:endParaRPr lang="en-US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OTU Section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OTU Far Section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ODU Section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ODU Far Section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FEC Corrected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FEC Uncorrected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FEC Error Ratio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Optical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200G Open ROADM with Bugs</a:t>
                      </a:r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27281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• </a:t>
                      </a:r>
                      <a:r>
                        <a:rPr lang="en-US" sz="1600" b="1" dirty="0" err="1"/>
                        <a:t>OpenZR</a:t>
                      </a:r>
                      <a:r>
                        <a:rPr lang="en-US" sz="1600" b="1" dirty="0"/>
                        <a:t>+:</a:t>
                      </a:r>
                    </a:p>
                    <a:p>
                      <a:r>
                        <a:rPr lang="en-US" sz="1600" dirty="0"/>
                        <a:t>▪ 200G </a:t>
                      </a:r>
                      <a:r>
                        <a:rPr lang="en-US" sz="1600" dirty="0" err="1"/>
                        <a:t>OpenZR</a:t>
                      </a:r>
                      <a:r>
                        <a:rPr lang="en-US" sz="1600" dirty="0"/>
                        <a:t>+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8QAM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QPSK</a:t>
                      </a:r>
                    </a:p>
                    <a:p>
                      <a:r>
                        <a:rPr lang="en-US" sz="1600" dirty="0"/>
                        <a:t>▪ 300G </a:t>
                      </a:r>
                      <a:r>
                        <a:rPr lang="en-US" sz="1600" dirty="0" err="1"/>
                        <a:t>OpenZR</a:t>
                      </a:r>
                      <a:r>
                        <a:rPr lang="en-US" sz="1600" dirty="0"/>
                        <a:t>+</a:t>
                      </a:r>
                    </a:p>
                    <a:p>
                      <a:r>
                        <a:rPr lang="en-US" sz="1600" dirty="0"/>
                        <a:t>▪ 400G </a:t>
                      </a:r>
                      <a:r>
                        <a:rPr lang="en-US" sz="1600" dirty="0" err="1"/>
                        <a:t>OpenZR</a:t>
                      </a:r>
                      <a:r>
                        <a:rPr lang="en-US" sz="1600" dirty="0"/>
                        <a:t>+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err="1"/>
                        <a:t>OpenZR</a:t>
                      </a:r>
                      <a:r>
                        <a:rPr lang="en-US" sz="1600" b="1" dirty="0"/>
                        <a:t>+:</a:t>
                      </a:r>
                      <a:endParaRPr lang="en-US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CRC Errors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FEC Corrected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FEC Uncorrected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FEC Error Ratio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Optical PM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118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086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92B7D-9A80-474F-ACB9-E45E8AC9F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Uplink supported 2/3</a:t>
            </a:r>
            <a:endParaRPr lang="en-IL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65831562-2BA6-4E43-8577-8595D298B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445926"/>
              </p:ext>
            </p:extLst>
          </p:nvPr>
        </p:nvGraphicFramePr>
        <p:xfrm>
          <a:off x="205878" y="1109134"/>
          <a:ext cx="11327682" cy="53291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3796">
                  <a:extLst>
                    <a:ext uri="{9D8B030D-6E8A-4147-A177-3AD203B41FA5}">
                      <a16:colId xmlns:a16="http://schemas.microsoft.com/office/drawing/2014/main" val="1184983519"/>
                    </a:ext>
                  </a:extLst>
                </a:gridCol>
                <a:gridCol w="2157730">
                  <a:extLst>
                    <a:ext uri="{9D8B030D-6E8A-4147-A177-3AD203B41FA5}">
                      <a16:colId xmlns:a16="http://schemas.microsoft.com/office/drawing/2014/main" val="2251441578"/>
                    </a:ext>
                  </a:extLst>
                </a:gridCol>
                <a:gridCol w="2066735">
                  <a:extLst>
                    <a:ext uri="{9D8B030D-6E8A-4147-A177-3AD203B41FA5}">
                      <a16:colId xmlns:a16="http://schemas.microsoft.com/office/drawing/2014/main" val="1334921683"/>
                    </a:ext>
                  </a:extLst>
                </a:gridCol>
                <a:gridCol w="1196721">
                  <a:extLst>
                    <a:ext uri="{9D8B030D-6E8A-4147-A177-3AD203B41FA5}">
                      <a16:colId xmlns:a16="http://schemas.microsoft.com/office/drawing/2014/main" val="1075769305"/>
                    </a:ext>
                  </a:extLst>
                </a:gridCol>
                <a:gridCol w="2712700">
                  <a:extLst>
                    <a:ext uri="{9D8B030D-6E8A-4147-A177-3AD203B41FA5}">
                      <a16:colId xmlns:a16="http://schemas.microsoft.com/office/drawing/2014/main" val="33152158"/>
                    </a:ext>
                  </a:extLst>
                </a:gridCol>
              </a:tblGrid>
              <a:tr h="351829">
                <a:tc>
                  <a:txBody>
                    <a:bodyPr/>
                    <a:lstStyle/>
                    <a:p>
                      <a:r>
                        <a:rPr lang="en-US" sz="1800" dirty="0"/>
                        <a:t>Uplink Type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Uplink modes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PM Supported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Alpha test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Comment</a:t>
                      </a:r>
                      <a:endParaRPr lang="en-IL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316193"/>
                  </a:ext>
                </a:extLst>
              </a:tr>
              <a:tr h="172982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Fujitsu CFP2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OpenROADM</a:t>
                      </a:r>
                      <a:r>
                        <a:rPr lang="en-US" sz="1600" b="1" dirty="0"/>
                        <a:t>:</a:t>
                      </a:r>
                    </a:p>
                    <a:p>
                      <a:r>
                        <a:rPr lang="en-US" sz="1600" dirty="0"/>
                        <a:t>▪ 200G </a:t>
                      </a:r>
                      <a:r>
                        <a:rPr lang="en-US" sz="1600" dirty="0" err="1"/>
                        <a:t>OpenROADM</a:t>
                      </a:r>
                      <a:endParaRPr lang="en-US" sz="1600" dirty="0"/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16QAM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8QAM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QPSK</a:t>
                      </a:r>
                    </a:p>
                    <a:p>
                      <a:r>
                        <a:rPr lang="en-US" sz="1600" dirty="0"/>
                        <a:t>▪ 300G </a:t>
                      </a:r>
                      <a:r>
                        <a:rPr lang="en-US" sz="1600" dirty="0" err="1"/>
                        <a:t>OpenROADM</a:t>
                      </a:r>
                      <a:endParaRPr lang="en-US" sz="1600" dirty="0"/>
                    </a:p>
                    <a:p>
                      <a:r>
                        <a:rPr lang="en-US" sz="1600" dirty="0"/>
                        <a:t>▪ 400G </a:t>
                      </a:r>
                      <a:r>
                        <a:rPr lang="en-US" sz="1600" dirty="0" err="1"/>
                        <a:t>OpenROADM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• </a:t>
                      </a:r>
                      <a:r>
                        <a:rPr lang="en-US" sz="1600" b="1" dirty="0" err="1"/>
                        <a:t>OpenROADM</a:t>
                      </a:r>
                      <a:r>
                        <a:rPr lang="en-US" sz="1600" b="1" dirty="0"/>
                        <a:t>:</a:t>
                      </a:r>
                      <a:endParaRPr lang="en-US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OTU Section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OTU Far Section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ODU Section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ODU Far Section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FEC Corrected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FEC Uncorrected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FEC Error Ratio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Optical PM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</a:t>
                      </a:r>
                      <a:endParaRPr lang="en-IL" sz="16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W/O Encryption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IL" sz="16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Mix of Services: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dirty="0"/>
                        <a:t>4x100Gbe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dirty="0"/>
                        <a:t>3x100Gbe+1xOTU4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dirty="0"/>
                        <a:t>2x100Gbe+2xOTU4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dirty="0"/>
                        <a:t>4xOTU4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dirty="0"/>
                        <a:t>1x400Gbe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679509"/>
                  </a:ext>
                </a:extLst>
              </a:tr>
              <a:tr h="1729827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• </a:t>
                      </a:r>
                      <a:r>
                        <a:rPr lang="en-US" sz="1600" b="1" dirty="0" err="1"/>
                        <a:t>OpenZR</a:t>
                      </a:r>
                      <a:r>
                        <a:rPr lang="en-US" sz="1600" b="1" dirty="0"/>
                        <a:t>+:</a:t>
                      </a:r>
                    </a:p>
                    <a:p>
                      <a:r>
                        <a:rPr lang="en-US" sz="1600" dirty="0"/>
                        <a:t>▪ 200G </a:t>
                      </a:r>
                      <a:r>
                        <a:rPr lang="en-US" sz="1600" dirty="0" err="1"/>
                        <a:t>OpenZR</a:t>
                      </a:r>
                      <a:r>
                        <a:rPr lang="en-US" sz="1600" dirty="0"/>
                        <a:t>+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16QAM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8QAM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QPSK</a:t>
                      </a:r>
                    </a:p>
                    <a:p>
                      <a:r>
                        <a:rPr lang="en-US" sz="1600" dirty="0"/>
                        <a:t>▪ 300G </a:t>
                      </a:r>
                      <a:r>
                        <a:rPr lang="en-US" sz="1600" dirty="0" err="1"/>
                        <a:t>OpenZR</a:t>
                      </a:r>
                      <a:r>
                        <a:rPr lang="en-US" sz="1600" dirty="0"/>
                        <a:t>+</a:t>
                      </a:r>
                    </a:p>
                    <a:p>
                      <a:r>
                        <a:rPr lang="en-US" sz="1600" dirty="0"/>
                        <a:t>▪ 400G </a:t>
                      </a:r>
                      <a:r>
                        <a:rPr lang="en-US" sz="1600" dirty="0" err="1"/>
                        <a:t>OpenZR</a:t>
                      </a:r>
                      <a:r>
                        <a:rPr lang="en-US" sz="1600" dirty="0"/>
                        <a:t>+</a:t>
                      </a:r>
                      <a:endParaRPr lang="en-IL" sz="18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•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1" dirty="0" err="1"/>
                        <a:t>OpenZR</a:t>
                      </a:r>
                      <a:r>
                        <a:rPr lang="en-US" sz="1600" b="1" dirty="0"/>
                        <a:t>+:</a:t>
                      </a:r>
                      <a:endParaRPr lang="en-US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CRC Errors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FEC Uncorrected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Optical PM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616121"/>
                  </a:ext>
                </a:extLst>
              </a:tr>
              <a:tr h="8790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ACACIA QSFPDD-DCO (E20/E25)</a:t>
                      </a:r>
                    </a:p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4104</a:t>
                      </a:r>
                      <a:endParaRPr lang="en-IL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400G ZR – 16QAM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FEC Uncorrected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Optical PM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312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9791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EE0F0-C2D7-4CFF-B2CB-B69D2B653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Uplink supported 3/3</a:t>
            </a:r>
            <a:endParaRPr lang="en-IL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D43E47D3-5D24-4DEB-A1EE-BCB56B610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960377"/>
              </p:ext>
            </p:extLst>
          </p:nvPr>
        </p:nvGraphicFramePr>
        <p:xfrm>
          <a:off x="133507" y="984816"/>
          <a:ext cx="11327682" cy="5610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3796">
                  <a:extLst>
                    <a:ext uri="{9D8B030D-6E8A-4147-A177-3AD203B41FA5}">
                      <a16:colId xmlns:a16="http://schemas.microsoft.com/office/drawing/2014/main" val="1184983519"/>
                    </a:ext>
                  </a:extLst>
                </a:gridCol>
                <a:gridCol w="2157730">
                  <a:extLst>
                    <a:ext uri="{9D8B030D-6E8A-4147-A177-3AD203B41FA5}">
                      <a16:colId xmlns:a16="http://schemas.microsoft.com/office/drawing/2014/main" val="2251441578"/>
                    </a:ext>
                  </a:extLst>
                </a:gridCol>
                <a:gridCol w="2066735">
                  <a:extLst>
                    <a:ext uri="{9D8B030D-6E8A-4147-A177-3AD203B41FA5}">
                      <a16:colId xmlns:a16="http://schemas.microsoft.com/office/drawing/2014/main" val="1334921683"/>
                    </a:ext>
                  </a:extLst>
                </a:gridCol>
                <a:gridCol w="1196721">
                  <a:extLst>
                    <a:ext uri="{9D8B030D-6E8A-4147-A177-3AD203B41FA5}">
                      <a16:colId xmlns:a16="http://schemas.microsoft.com/office/drawing/2014/main" val="1075769305"/>
                    </a:ext>
                  </a:extLst>
                </a:gridCol>
                <a:gridCol w="2712700">
                  <a:extLst>
                    <a:ext uri="{9D8B030D-6E8A-4147-A177-3AD203B41FA5}">
                      <a16:colId xmlns:a16="http://schemas.microsoft.com/office/drawing/2014/main" val="33152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Uplink Type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Uplink modes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PM Supported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Alpha test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Comment</a:t>
                      </a:r>
                      <a:endParaRPr lang="en-IL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316193"/>
                  </a:ext>
                </a:extLst>
              </a:tr>
              <a:tr h="1547707"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ACACIA QSFPDD-DCO (HK9)</a:t>
                      </a:r>
                      <a:endParaRPr lang="en-IL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Open ZR: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▪ 400G ZR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• Open ZR:</a:t>
                      </a:r>
                      <a:endParaRPr lang="en-US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CRC Errors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FEC Corrected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FEC Uncorrected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FEC Error Ratio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Optical PM</a:t>
                      </a:r>
                      <a:endParaRPr lang="en-IL" sz="16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</a:t>
                      </a:r>
                      <a:endParaRPr lang="en-IL" sz="16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W/O Encryption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IL" sz="1600" dirty="0"/>
                    </a:p>
                    <a:p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679509"/>
                  </a:ext>
                </a:extLst>
              </a:tr>
              <a:tr h="1872827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OpenROADM</a:t>
                      </a:r>
                      <a:r>
                        <a:rPr lang="en-US" sz="1600" b="1" dirty="0"/>
                        <a:t>:</a:t>
                      </a:r>
                    </a:p>
                    <a:p>
                      <a:r>
                        <a:rPr lang="en-US" sz="1600" dirty="0"/>
                        <a:t>▪ 200G </a:t>
                      </a:r>
                      <a:r>
                        <a:rPr lang="en-US" sz="1600" dirty="0" err="1"/>
                        <a:t>OpenROADM</a:t>
                      </a:r>
                      <a:endParaRPr lang="en-US" sz="1600" dirty="0"/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16QAM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8QAM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QPSK</a:t>
                      </a:r>
                    </a:p>
                    <a:p>
                      <a:r>
                        <a:rPr lang="en-US" sz="1600" dirty="0"/>
                        <a:t>▪ 300G </a:t>
                      </a:r>
                      <a:r>
                        <a:rPr lang="en-US" sz="1600" dirty="0" err="1"/>
                        <a:t>OpenROADM</a:t>
                      </a:r>
                      <a:endParaRPr lang="en-US" sz="1600" dirty="0"/>
                    </a:p>
                    <a:p>
                      <a:r>
                        <a:rPr lang="en-US" sz="1600" dirty="0"/>
                        <a:t>▪ 400G </a:t>
                      </a:r>
                      <a:r>
                        <a:rPr lang="en-US" sz="1600" dirty="0" err="1"/>
                        <a:t>OpenROADM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• </a:t>
                      </a:r>
                      <a:r>
                        <a:rPr lang="en-US" sz="1600" b="1" dirty="0" err="1"/>
                        <a:t>OpenROADM</a:t>
                      </a:r>
                      <a:r>
                        <a:rPr lang="en-US" sz="1600" b="1" dirty="0"/>
                        <a:t>:</a:t>
                      </a:r>
                      <a:endParaRPr lang="en-US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OTU Section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OTU Far Section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ODU Section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ODU Far Section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FEC Uncorrected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Optical PM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616121"/>
                  </a:ext>
                </a:extLst>
              </a:tr>
              <a:tr h="1811867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• </a:t>
                      </a:r>
                      <a:r>
                        <a:rPr lang="en-US" sz="1600" b="1" dirty="0" err="1"/>
                        <a:t>OpenZR</a:t>
                      </a:r>
                      <a:r>
                        <a:rPr lang="en-US" sz="1600" b="1" dirty="0"/>
                        <a:t>+:</a:t>
                      </a:r>
                    </a:p>
                    <a:p>
                      <a:r>
                        <a:rPr lang="en-US" sz="1600" dirty="0"/>
                        <a:t>▪ 200G </a:t>
                      </a:r>
                      <a:r>
                        <a:rPr lang="en-US" sz="1600" dirty="0" err="1"/>
                        <a:t>OpenZR</a:t>
                      </a:r>
                      <a:r>
                        <a:rPr lang="en-US" sz="1600" dirty="0"/>
                        <a:t>+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16QAM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8QAM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QPSK</a:t>
                      </a:r>
                    </a:p>
                    <a:p>
                      <a:r>
                        <a:rPr lang="en-US" sz="1600" dirty="0"/>
                        <a:t>▪ 300G </a:t>
                      </a:r>
                      <a:r>
                        <a:rPr lang="en-US" sz="1600" dirty="0" err="1"/>
                        <a:t>OpenZR</a:t>
                      </a:r>
                      <a:r>
                        <a:rPr lang="en-US" sz="1600" dirty="0"/>
                        <a:t>+</a:t>
                      </a:r>
                    </a:p>
                    <a:p>
                      <a:r>
                        <a:rPr lang="en-US" sz="1600" dirty="0"/>
                        <a:t>▪ 400G </a:t>
                      </a:r>
                      <a:r>
                        <a:rPr lang="en-US" sz="1600" dirty="0" err="1"/>
                        <a:t>OpenZR</a:t>
                      </a:r>
                      <a:r>
                        <a:rPr lang="en-US" sz="1600" dirty="0"/>
                        <a:t>+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•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1" dirty="0" err="1"/>
                        <a:t>OpenZR</a:t>
                      </a:r>
                      <a:r>
                        <a:rPr lang="en-US" sz="1600" b="1" dirty="0"/>
                        <a:t>+:</a:t>
                      </a:r>
                      <a:endParaRPr lang="en-US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CRC Errors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FEC Uncorrected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Optical PM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450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2956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4A7BB-6C1E-4B02-B490-D9CD9EDE2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supported</a:t>
            </a:r>
            <a:endParaRPr lang="en-IL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B3B7AE-AE5F-48D2-9265-70298BC5AC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300022"/>
              </p:ext>
            </p:extLst>
          </p:nvPr>
        </p:nvGraphicFramePr>
        <p:xfrm>
          <a:off x="847930" y="1121013"/>
          <a:ext cx="8983132" cy="512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140">
                  <a:extLst>
                    <a:ext uri="{9D8B030D-6E8A-4147-A177-3AD203B41FA5}">
                      <a16:colId xmlns:a16="http://schemas.microsoft.com/office/drawing/2014/main" val="3011015038"/>
                    </a:ext>
                  </a:extLst>
                </a:gridCol>
                <a:gridCol w="1051750">
                  <a:extLst>
                    <a:ext uri="{9D8B030D-6E8A-4147-A177-3AD203B41FA5}">
                      <a16:colId xmlns:a16="http://schemas.microsoft.com/office/drawing/2014/main" val="3779021708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3400411555"/>
                    </a:ext>
                  </a:extLst>
                </a:gridCol>
                <a:gridCol w="2947924">
                  <a:extLst>
                    <a:ext uri="{9D8B030D-6E8A-4147-A177-3AD203B41FA5}">
                      <a16:colId xmlns:a16="http://schemas.microsoft.com/office/drawing/2014/main" val="1931400358"/>
                    </a:ext>
                  </a:extLst>
                </a:gridCol>
                <a:gridCol w="1492744">
                  <a:extLst>
                    <a:ext uri="{9D8B030D-6E8A-4147-A177-3AD203B41FA5}">
                      <a16:colId xmlns:a16="http://schemas.microsoft.com/office/drawing/2014/main" val="345649402"/>
                    </a:ext>
                  </a:extLst>
                </a:gridCol>
                <a:gridCol w="1492744">
                  <a:extLst>
                    <a:ext uri="{9D8B030D-6E8A-4147-A177-3AD203B41FA5}">
                      <a16:colId xmlns:a16="http://schemas.microsoft.com/office/drawing/2014/main" val="27600251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Client Signal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Form</a:t>
                      </a:r>
                      <a:r>
                        <a:rPr lang="en-US" sz="1600" baseline="0" dirty="0"/>
                        <a:t> Factor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PMD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Connector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Alpha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comment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4464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QSFPDD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</a:rPr>
                        <a:t>LR8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Duplex 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QSFPDD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Duplex 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91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QSFPDD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MPO16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816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QSFPDD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MPO12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16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QSFPDD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Duplex LC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814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QSFPDD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Duplex LC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642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050" dirty="0">
                        <a:highlight>
                          <a:srgbClr val="F6D33C"/>
                        </a:highlight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>
                        <a:highlight>
                          <a:srgbClr val="F6D33C"/>
                        </a:highlight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>
                        <a:highlight>
                          <a:srgbClr val="F6D33C"/>
                        </a:highlight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6D33C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6D33C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6D33C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80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4x100G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QSFPDD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MPO12 with Breakout to 4x100G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815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4x100G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QSFPDD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DR4+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MPO12 with Breakout to 4x100G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945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4x100G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QSFPDD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4x100LR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MPO12 with Breakout to 4x100G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417494"/>
                  </a:ext>
                </a:extLst>
              </a:tr>
              <a:tr h="22567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050" kern="1200" dirty="0">
                        <a:solidFill>
                          <a:schemeClr val="dk1"/>
                        </a:solidFill>
                        <a:highlight>
                          <a:srgbClr val="F6D33C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050" kern="1200" dirty="0">
                        <a:solidFill>
                          <a:schemeClr val="dk1"/>
                        </a:solidFill>
                        <a:highlight>
                          <a:srgbClr val="F6D33C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050" kern="1200" dirty="0">
                        <a:solidFill>
                          <a:schemeClr val="dk1"/>
                        </a:solidFill>
                        <a:highlight>
                          <a:srgbClr val="F6D33C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kern="1200" noProof="0" dirty="0">
                        <a:solidFill>
                          <a:schemeClr val="dk1"/>
                        </a:solidFill>
                        <a:highlight>
                          <a:srgbClr val="F6D33C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kern="1200" noProof="0" dirty="0">
                        <a:solidFill>
                          <a:schemeClr val="dk1"/>
                        </a:solidFill>
                        <a:highlight>
                          <a:srgbClr val="F6D33C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kern="1200" noProof="0" dirty="0">
                        <a:solidFill>
                          <a:schemeClr val="dk1"/>
                        </a:solidFill>
                        <a:highlight>
                          <a:srgbClr val="F6D33C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054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100G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QSFP28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Duplex LC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66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OTU4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QSFP28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Duplex 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514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8180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7B8A7-108D-43F1-B623-4CF9270BA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added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FD8C2-A5B3-400F-BFCF-0441B15A7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v-SE" dirty="0"/>
              <a:t>Upgrade OpenSSL and OS version</a:t>
            </a:r>
            <a:endParaRPr lang="en-US" dirty="0"/>
          </a:p>
          <a:p>
            <a:r>
              <a:rPr lang="en-US" dirty="0"/>
              <a:t>2 System Mode PLN-A/ PLN-F</a:t>
            </a:r>
          </a:p>
          <a:p>
            <a:r>
              <a:rPr lang="en-US" dirty="0"/>
              <a:t>Radius – Exit on Reject mode</a:t>
            </a:r>
          </a:p>
          <a:p>
            <a:r>
              <a:rPr lang="en-US" dirty="0"/>
              <a:t>TCA</a:t>
            </a:r>
          </a:p>
          <a:p>
            <a:r>
              <a:rPr lang="en-US" dirty="0"/>
              <a:t>NTP</a:t>
            </a:r>
          </a:p>
          <a:p>
            <a:r>
              <a:rPr lang="en-US" dirty="0"/>
              <a:t>Syslog TLS</a:t>
            </a:r>
          </a:p>
          <a:p>
            <a:r>
              <a:rPr lang="en-US" dirty="0"/>
              <a:t>System high/low temperature alarms</a:t>
            </a:r>
          </a:p>
          <a:p>
            <a:r>
              <a:rPr lang="en-US" dirty="0"/>
              <a:t>DMP</a:t>
            </a:r>
          </a:p>
          <a:p>
            <a:endParaRPr lang="en-US" dirty="0"/>
          </a:p>
          <a:p>
            <a:r>
              <a:rPr lang="en-US" dirty="0"/>
              <a:t>Multi Chassis - removed</a:t>
            </a:r>
          </a:p>
          <a:p>
            <a:r>
              <a:rPr lang="en-US" dirty="0"/>
              <a:t>Topology button removed - keeps only local links in MIB</a:t>
            </a:r>
          </a:p>
          <a:p>
            <a:pPr marL="0" indent="0"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097597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A003FD-2634-4645-9292-E6433426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2.3.x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90301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EE0F0-C2D7-4CFF-B2CB-B69D2B653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Uplink supported 1/3</a:t>
            </a:r>
            <a:endParaRPr lang="en-IL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D43E47D3-5D24-4DEB-A1EE-BCB56B610762}"/>
              </a:ext>
            </a:extLst>
          </p:cNvPr>
          <p:cNvGraphicFramePr>
            <a:graphicFrameLocks noGrp="1"/>
          </p:cNvGraphicFramePr>
          <p:nvPr/>
        </p:nvGraphicFramePr>
        <p:xfrm>
          <a:off x="74240" y="1075267"/>
          <a:ext cx="11327682" cy="445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3796">
                  <a:extLst>
                    <a:ext uri="{9D8B030D-6E8A-4147-A177-3AD203B41FA5}">
                      <a16:colId xmlns:a16="http://schemas.microsoft.com/office/drawing/2014/main" val="1184983519"/>
                    </a:ext>
                  </a:extLst>
                </a:gridCol>
                <a:gridCol w="2157730">
                  <a:extLst>
                    <a:ext uri="{9D8B030D-6E8A-4147-A177-3AD203B41FA5}">
                      <a16:colId xmlns:a16="http://schemas.microsoft.com/office/drawing/2014/main" val="2251441578"/>
                    </a:ext>
                  </a:extLst>
                </a:gridCol>
                <a:gridCol w="2066735">
                  <a:extLst>
                    <a:ext uri="{9D8B030D-6E8A-4147-A177-3AD203B41FA5}">
                      <a16:colId xmlns:a16="http://schemas.microsoft.com/office/drawing/2014/main" val="1334921683"/>
                    </a:ext>
                  </a:extLst>
                </a:gridCol>
                <a:gridCol w="1196721">
                  <a:extLst>
                    <a:ext uri="{9D8B030D-6E8A-4147-A177-3AD203B41FA5}">
                      <a16:colId xmlns:a16="http://schemas.microsoft.com/office/drawing/2014/main" val="1075769305"/>
                    </a:ext>
                  </a:extLst>
                </a:gridCol>
                <a:gridCol w="2712700">
                  <a:extLst>
                    <a:ext uri="{9D8B030D-6E8A-4147-A177-3AD203B41FA5}">
                      <a16:colId xmlns:a16="http://schemas.microsoft.com/office/drawing/2014/main" val="33152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Uplink Type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Uplink modes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PM Supported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Alpha test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Comment</a:t>
                      </a:r>
                      <a:endParaRPr lang="en-IL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31619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ACACIA CFP2 (M30/M35)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OpenROADM</a:t>
                      </a:r>
                      <a:r>
                        <a:rPr lang="en-US" sz="1600" b="1" dirty="0"/>
                        <a:t>:</a:t>
                      </a:r>
                    </a:p>
                    <a:p>
                      <a:r>
                        <a:rPr lang="en-US" sz="1600" dirty="0"/>
                        <a:t>▪ 200G </a:t>
                      </a:r>
                      <a:r>
                        <a:rPr lang="en-US" sz="1600" dirty="0" err="1"/>
                        <a:t>OpenROADM</a:t>
                      </a:r>
                      <a:endParaRPr lang="en-US" sz="1600" dirty="0"/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8QAM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QPSK</a:t>
                      </a:r>
                    </a:p>
                    <a:p>
                      <a:r>
                        <a:rPr lang="en-US" sz="1600" dirty="0"/>
                        <a:t>▪ 300G </a:t>
                      </a:r>
                      <a:r>
                        <a:rPr lang="en-US" sz="1600" dirty="0" err="1"/>
                        <a:t>OpenROADM</a:t>
                      </a:r>
                      <a:endParaRPr lang="en-US" sz="1600" dirty="0"/>
                    </a:p>
                    <a:p>
                      <a:r>
                        <a:rPr lang="en-US" sz="1600" dirty="0"/>
                        <a:t>▪ 400G </a:t>
                      </a:r>
                      <a:r>
                        <a:rPr lang="en-US" sz="1600" dirty="0" err="1"/>
                        <a:t>OpenROADM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err="1"/>
                        <a:t>OpenROADM</a:t>
                      </a:r>
                      <a:r>
                        <a:rPr lang="en-US" sz="1600" b="1" dirty="0"/>
                        <a:t>:</a:t>
                      </a:r>
                      <a:endParaRPr lang="en-US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OTU Section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OTU Far Section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ODU Section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ODU Far Section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FEC Corrected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FEC Uncorrected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FEC Error Ratio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Optical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200G Open ROADM with Bugs</a:t>
                      </a:r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27281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• </a:t>
                      </a:r>
                      <a:r>
                        <a:rPr lang="en-US" sz="1600" b="1" dirty="0" err="1"/>
                        <a:t>OpenZR</a:t>
                      </a:r>
                      <a:r>
                        <a:rPr lang="en-US" sz="1600" b="1" dirty="0"/>
                        <a:t>+:</a:t>
                      </a:r>
                    </a:p>
                    <a:p>
                      <a:r>
                        <a:rPr lang="en-US" sz="1600" dirty="0"/>
                        <a:t>▪ 200G </a:t>
                      </a:r>
                      <a:r>
                        <a:rPr lang="en-US" sz="1600" dirty="0" err="1"/>
                        <a:t>OpenZR</a:t>
                      </a:r>
                      <a:r>
                        <a:rPr lang="en-US" sz="1600" dirty="0"/>
                        <a:t>+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8QAM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QPSK</a:t>
                      </a:r>
                    </a:p>
                    <a:p>
                      <a:r>
                        <a:rPr lang="en-US" sz="1600" dirty="0"/>
                        <a:t>▪ 300G </a:t>
                      </a:r>
                      <a:r>
                        <a:rPr lang="en-US" sz="1600" dirty="0" err="1"/>
                        <a:t>OpenZR</a:t>
                      </a:r>
                      <a:r>
                        <a:rPr lang="en-US" sz="1600" dirty="0"/>
                        <a:t>+</a:t>
                      </a:r>
                    </a:p>
                    <a:p>
                      <a:r>
                        <a:rPr lang="en-US" sz="1600" dirty="0"/>
                        <a:t>▪ 400G </a:t>
                      </a:r>
                      <a:r>
                        <a:rPr lang="en-US" sz="1600" dirty="0" err="1"/>
                        <a:t>OpenZR</a:t>
                      </a:r>
                      <a:r>
                        <a:rPr lang="en-US" sz="1600" dirty="0"/>
                        <a:t>+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err="1"/>
                        <a:t>OpenZR</a:t>
                      </a:r>
                      <a:r>
                        <a:rPr lang="en-US" sz="1600" b="1" dirty="0"/>
                        <a:t>+:</a:t>
                      </a:r>
                      <a:endParaRPr lang="en-US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CRC Errors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FEC Corrected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FEC Uncorrected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FEC Error Ratio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Optical PM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118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7879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92B7D-9A80-474F-ACB9-E45E8AC9F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Uplink supported 2/3</a:t>
            </a:r>
            <a:endParaRPr lang="en-IL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65831562-2BA6-4E43-8577-8595D298B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444679"/>
              </p:ext>
            </p:extLst>
          </p:nvPr>
        </p:nvGraphicFramePr>
        <p:xfrm>
          <a:off x="205878" y="1109134"/>
          <a:ext cx="11327682" cy="53291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3796">
                  <a:extLst>
                    <a:ext uri="{9D8B030D-6E8A-4147-A177-3AD203B41FA5}">
                      <a16:colId xmlns:a16="http://schemas.microsoft.com/office/drawing/2014/main" val="1184983519"/>
                    </a:ext>
                  </a:extLst>
                </a:gridCol>
                <a:gridCol w="2157730">
                  <a:extLst>
                    <a:ext uri="{9D8B030D-6E8A-4147-A177-3AD203B41FA5}">
                      <a16:colId xmlns:a16="http://schemas.microsoft.com/office/drawing/2014/main" val="2251441578"/>
                    </a:ext>
                  </a:extLst>
                </a:gridCol>
                <a:gridCol w="2066735">
                  <a:extLst>
                    <a:ext uri="{9D8B030D-6E8A-4147-A177-3AD203B41FA5}">
                      <a16:colId xmlns:a16="http://schemas.microsoft.com/office/drawing/2014/main" val="1334921683"/>
                    </a:ext>
                  </a:extLst>
                </a:gridCol>
                <a:gridCol w="1196721">
                  <a:extLst>
                    <a:ext uri="{9D8B030D-6E8A-4147-A177-3AD203B41FA5}">
                      <a16:colId xmlns:a16="http://schemas.microsoft.com/office/drawing/2014/main" val="1075769305"/>
                    </a:ext>
                  </a:extLst>
                </a:gridCol>
                <a:gridCol w="2712700">
                  <a:extLst>
                    <a:ext uri="{9D8B030D-6E8A-4147-A177-3AD203B41FA5}">
                      <a16:colId xmlns:a16="http://schemas.microsoft.com/office/drawing/2014/main" val="33152158"/>
                    </a:ext>
                  </a:extLst>
                </a:gridCol>
              </a:tblGrid>
              <a:tr h="351829">
                <a:tc>
                  <a:txBody>
                    <a:bodyPr/>
                    <a:lstStyle/>
                    <a:p>
                      <a:r>
                        <a:rPr lang="en-US" sz="1800" dirty="0"/>
                        <a:t>Uplink Type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Uplink modes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PM Supported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Alpha test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Comment</a:t>
                      </a:r>
                      <a:endParaRPr lang="en-IL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316193"/>
                  </a:ext>
                </a:extLst>
              </a:tr>
              <a:tr h="172982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Fujitsu CFP2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OpenROADM</a:t>
                      </a:r>
                      <a:r>
                        <a:rPr lang="en-US" sz="1600" b="1" dirty="0"/>
                        <a:t>:</a:t>
                      </a:r>
                    </a:p>
                    <a:p>
                      <a:r>
                        <a:rPr lang="en-US" sz="1600" dirty="0"/>
                        <a:t>▪ 200G </a:t>
                      </a:r>
                      <a:r>
                        <a:rPr lang="en-US" sz="1600" dirty="0" err="1"/>
                        <a:t>OpenROADM</a:t>
                      </a:r>
                      <a:endParaRPr lang="en-US" sz="1600" dirty="0"/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16QAM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8QAM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QPSK</a:t>
                      </a:r>
                    </a:p>
                    <a:p>
                      <a:r>
                        <a:rPr lang="en-US" sz="1600" dirty="0"/>
                        <a:t>▪ 300G </a:t>
                      </a:r>
                      <a:r>
                        <a:rPr lang="en-US" sz="1600" dirty="0" err="1"/>
                        <a:t>OpenROADM</a:t>
                      </a:r>
                      <a:endParaRPr lang="en-US" sz="1600" dirty="0"/>
                    </a:p>
                    <a:p>
                      <a:r>
                        <a:rPr lang="en-US" sz="1600" dirty="0"/>
                        <a:t>▪ 400G </a:t>
                      </a:r>
                      <a:r>
                        <a:rPr lang="en-US" sz="1600" dirty="0" err="1"/>
                        <a:t>OpenROADM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• </a:t>
                      </a:r>
                      <a:r>
                        <a:rPr lang="en-US" sz="1600" b="1" dirty="0" err="1"/>
                        <a:t>OpenROADM</a:t>
                      </a:r>
                      <a:r>
                        <a:rPr lang="en-US" sz="1600" b="1" dirty="0"/>
                        <a:t>:</a:t>
                      </a:r>
                      <a:endParaRPr lang="en-US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OTU Section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OTU Far Section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ODU Section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ODU Far Section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FEC Corrected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FEC Uncorrected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FEC Error Ratio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Optical PM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</a:t>
                      </a:r>
                      <a:endParaRPr lang="en-IL" sz="16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highlight>
                            <a:srgbClr val="FF0000"/>
                          </a:highlight>
                        </a:rPr>
                        <a:t>With Encryption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IL" sz="16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Mix of Services: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dirty="0"/>
                        <a:t>4x100Gbe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dirty="0"/>
                        <a:t>3x100Gbe+1xOTU4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dirty="0"/>
                        <a:t>2x100Gbe+2xOTU4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dirty="0"/>
                        <a:t>4xOTU4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dirty="0"/>
                        <a:t>1x400Gbe</a:t>
                      </a:r>
                    </a:p>
                    <a:p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679509"/>
                  </a:ext>
                </a:extLst>
              </a:tr>
              <a:tr h="1729827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• </a:t>
                      </a:r>
                      <a:r>
                        <a:rPr lang="en-US" sz="1600" b="1" dirty="0" err="1"/>
                        <a:t>OpenZR</a:t>
                      </a:r>
                      <a:r>
                        <a:rPr lang="en-US" sz="1600" b="1" dirty="0"/>
                        <a:t>+:</a:t>
                      </a:r>
                    </a:p>
                    <a:p>
                      <a:r>
                        <a:rPr lang="en-US" sz="1600" dirty="0"/>
                        <a:t>▪ 200G </a:t>
                      </a:r>
                      <a:r>
                        <a:rPr lang="en-US" sz="1600" dirty="0" err="1"/>
                        <a:t>OpenZR</a:t>
                      </a:r>
                      <a:r>
                        <a:rPr lang="en-US" sz="1600" dirty="0"/>
                        <a:t>+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16QAM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8QAM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QPSK</a:t>
                      </a:r>
                    </a:p>
                    <a:p>
                      <a:r>
                        <a:rPr lang="en-US" sz="1600" dirty="0"/>
                        <a:t>▪ 300G </a:t>
                      </a:r>
                      <a:r>
                        <a:rPr lang="en-US" sz="1600" dirty="0" err="1"/>
                        <a:t>OpenZR</a:t>
                      </a:r>
                      <a:r>
                        <a:rPr lang="en-US" sz="1600" dirty="0"/>
                        <a:t>+</a:t>
                      </a:r>
                    </a:p>
                    <a:p>
                      <a:r>
                        <a:rPr lang="en-US" sz="1600" dirty="0"/>
                        <a:t>▪ 400G </a:t>
                      </a:r>
                      <a:r>
                        <a:rPr lang="en-US" sz="1600" dirty="0" err="1"/>
                        <a:t>OpenZR</a:t>
                      </a:r>
                      <a:r>
                        <a:rPr lang="en-US" sz="1600" dirty="0"/>
                        <a:t>+</a:t>
                      </a:r>
                      <a:endParaRPr lang="en-IL" sz="18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•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1" dirty="0" err="1"/>
                        <a:t>OpenZR</a:t>
                      </a:r>
                      <a:r>
                        <a:rPr lang="en-US" sz="1600" b="1" dirty="0"/>
                        <a:t>+:</a:t>
                      </a:r>
                      <a:endParaRPr lang="en-US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CRC Errors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FEC Uncorrected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Optical PM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616121"/>
                  </a:ext>
                </a:extLst>
              </a:tr>
              <a:tr h="8790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ACACIA QSFPDD-DCO (E20/E25)</a:t>
                      </a:r>
                    </a:p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4104</a:t>
                      </a:r>
                      <a:endParaRPr lang="en-IL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400G ZR – 16QAM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FEC Uncorrected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Optical PM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312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9062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EE0F0-C2D7-4CFF-B2CB-B69D2B653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Uplink supported 3/3</a:t>
            </a:r>
            <a:endParaRPr lang="en-IL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D43E47D3-5D24-4DEB-A1EE-BCB56B610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727309"/>
              </p:ext>
            </p:extLst>
          </p:nvPr>
        </p:nvGraphicFramePr>
        <p:xfrm>
          <a:off x="133507" y="984816"/>
          <a:ext cx="11327682" cy="5610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3796">
                  <a:extLst>
                    <a:ext uri="{9D8B030D-6E8A-4147-A177-3AD203B41FA5}">
                      <a16:colId xmlns:a16="http://schemas.microsoft.com/office/drawing/2014/main" val="1184983519"/>
                    </a:ext>
                  </a:extLst>
                </a:gridCol>
                <a:gridCol w="2157730">
                  <a:extLst>
                    <a:ext uri="{9D8B030D-6E8A-4147-A177-3AD203B41FA5}">
                      <a16:colId xmlns:a16="http://schemas.microsoft.com/office/drawing/2014/main" val="2251441578"/>
                    </a:ext>
                  </a:extLst>
                </a:gridCol>
                <a:gridCol w="2066735">
                  <a:extLst>
                    <a:ext uri="{9D8B030D-6E8A-4147-A177-3AD203B41FA5}">
                      <a16:colId xmlns:a16="http://schemas.microsoft.com/office/drawing/2014/main" val="1334921683"/>
                    </a:ext>
                  </a:extLst>
                </a:gridCol>
                <a:gridCol w="1196721">
                  <a:extLst>
                    <a:ext uri="{9D8B030D-6E8A-4147-A177-3AD203B41FA5}">
                      <a16:colId xmlns:a16="http://schemas.microsoft.com/office/drawing/2014/main" val="1075769305"/>
                    </a:ext>
                  </a:extLst>
                </a:gridCol>
                <a:gridCol w="2712700">
                  <a:extLst>
                    <a:ext uri="{9D8B030D-6E8A-4147-A177-3AD203B41FA5}">
                      <a16:colId xmlns:a16="http://schemas.microsoft.com/office/drawing/2014/main" val="33152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Uplink Type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Uplink modes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PM Supported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Alpha test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Comment</a:t>
                      </a:r>
                      <a:endParaRPr lang="en-IL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316193"/>
                  </a:ext>
                </a:extLst>
              </a:tr>
              <a:tr h="1547707"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ACACIA QSFPDD-DCO (HK9)</a:t>
                      </a:r>
                      <a:endParaRPr lang="en-IL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Open ZR: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▪ 400G ZR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• Open ZR:</a:t>
                      </a:r>
                      <a:endParaRPr lang="en-US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CRC Errors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FEC Corrected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FEC Uncorrected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/>
                        <a:t>FEC Error Ratio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Optical PM</a:t>
                      </a:r>
                      <a:endParaRPr lang="en-IL" sz="16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</a:t>
                      </a:r>
                      <a:endParaRPr lang="en-IL" sz="16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highlight>
                            <a:srgbClr val="FF0000"/>
                          </a:highlight>
                        </a:rPr>
                        <a:t>With Encryption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IL" sz="1600" dirty="0"/>
                    </a:p>
                    <a:p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679509"/>
                  </a:ext>
                </a:extLst>
              </a:tr>
              <a:tr h="1872827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OpenROADM</a:t>
                      </a:r>
                      <a:r>
                        <a:rPr lang="en-US" sz="1600" b="1" dirty="0"/>
                        <a:t>:</a:t>
                      </a:r>
                    </a:p>
                    <a:p>
                      <a:r>
                        <a:rPr lang="en-US" sz="1600" dirty="0"/>
                        <a:t>▪ 200G </a:t>
                      </a:r>
                      <a:r>
                        <a:rPr lang="en-US" sz="1600" dirty="0" err="1"/>
                        <a:t>OpenROADM</a:t>
                      </a:r>
                      <a:endParaRPr lang="en-US" sz="1600" dirty="0"/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16QAM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8QAM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QPSK</a:t>
                      </a:r>
                    </a:p>
                    <a:p>
                      <a:r>
                        <a:rPr lang="en-US" sz="1600" dirty="0"/>
                        <a:t>▪ 300G </a:t>
                      </a:r>
                      <a:r>
                        <a:rPr lang="en-US" sz="1600" dirty="0" err="1"/>
                        <a:t>OpenROADM</a:t>
                      </a:r>
                      <a:endParaRPr lang="en-US" sz="1600" dirty="0"/>
                    </a:p>
                    <a:p>
                      <a:r>
                        <a:rPr lang="en-US" sz="1600" dirty="0"/>
                        <a:t>▪ 400G </a:t>
                      </a:r>
                      <a:r>
                        <a:rPr lang="en-US" sz="1600" dirty="0" err="1"/>
                        <a:t>OpenROADM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• </a:t>
                      </a:r>
                      <a:r>
                        <a:rPr lang="en-US" sz="1600" b="1" dirty="0" err="1"/>
                        <a:t>OpenROADM</a:t>
                      </a:r>
                      <a:r>
                        <a:rPr lang="en-US" sz="1600" b="1" dirty="0"/>
                        <a:t>:</a:t>
                      </a:r>
                      <a:endParaRPr lang="en-US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OTU Section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OTU Far Section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ODU Section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ODU Far Section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FEC Uncorrected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Optical PM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616121"/>
                  </a:ext>
                </a:extLst>
              </a:tr>
              <a:tr h="1811867"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• </a:t>
                      </a:r>
                      <a:r>
                        <a:rPr lang="en-US" sz="1600" b="1" dirty="0" err="1"/>
                        <a:t>OpenZR</a:t>
                      </a:r>
                      <a:r>
                        <a:rPr lang="en-US" sz="1600" b="1" dirty="0"/>
                        <a:t>+:</a:t>
                      </a:r>
                    </a:p>
                    <a:p>
                      <a:r>
                        <a:rPr lang="en-US" sz="1600" dirty="0"/>
                        <a:t>▪ 200G </a:t>
                      </a:r>
                      <a:r>
                        <a:rPr lang="en-US" sz="1600" dirty="0" err="1"/>
                        <a:t>OpenZR</a:t>
                      </a:r>
                      <a:r>
                        <a:rPr lang="en-US" sz="1600" dirty="0"/>
                        <a:t>+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16QAM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8QAM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QPSK</a:t>
                      </a:r>
                    </a:p>
                    <a:p>
                      <a:r>
                        <a:rPr lang="en-US" sz="1600" dirty="0"/>
                        <a:t>▪ 300G </a:t>
                      </a:r>
                      <a:r>
                        <a:rPr lang="en-US" sz="1600" dirty="0" err="1"/>
                        <a:t>OpenZR</a:t>
                      </a:r>
                      <a:r>
                        <a:rPr lang="en-US" sz="1600" dirty="0"/>
                        <a:t>+</a:t>
                      </a:r>
                    </a:p>
                    <a:p>
                      <a:r>
                        <a:rPr lang="en-US" sz="1600" dirty="0"/>
                        <a:t>▪ 400G </a:t>
                      </a:r>
                      <a:r>
                        <a:rPr lang="en-US" sz="1600" dirty="0" err="1"/>
                        <a:t>OpenZR</a:t>
                      </a:r>
                      <a:r>
                        <a:rPr lang="en-US" sz="1600" dirty="0"/>
                        <a:t>+</a:t>
                      </a:r>
                      <a:endParaRPr lang="en-IL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•</a:t>
                      </a:r>
                      <a:r>
                        <a:rPr lang="en-US" sz="1600" b="0" dirty="0"/>
                        <a:t> </a:t>
                      </a:r>
                      <a:r>
                        <a:rPr lang="en-US" sz="1600" b="1" dirty="0" err="1"/>
                        <a:t>OpenZR</a:t>
                      </a:r>
                      <a:r>
                        <a:rPr lang="en-US" sz="1600" b="1" dirty="0"/>
                        <a:t>+:</a:t>
                      </a:r>
                      <a:endParaRPr lang="en-US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CRC Errors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FEC Uncorrected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Optical PM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450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9940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EE0F0-C2D7-4CFF-B2CB-B69D2B653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Uplink supported 3/3</a:t>
            </a:r>
            <a:endParaRPr lang="en-IL" dirty="0"/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A598537E-8358-4D94-B1F6-CD5087BE11E0}"/>
              </a:ext>
            </a:extLst>
          </p:cNvPr>
          <p:cNvGraphicFramePr>
            <a:graphicFrameLocks noGrp="1"/>
          </p:cNvGraphicFramePr>
          <p:nvPr/>
        </p:nvGraphicFramePr>
        <p:xfrm>
          <a:off x="15267" y="993282"/>
          <a:ext cx="11518293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3764">
                  <a:extLst>
                    <a:ext uri="{9D8B030D-6E8A-4147-A177-3AD203B41FA5}">
                      <a16:colId xmlns:a16="http://schemas.microsoft.com/office/drawing/2014/main" val="1184983519"/>
                    </a:ext>
                  </a:extLst>
                </a:gridCol>
                <a:gridCol w="2157730">
                  <a:extLst>
                    <a:ext uri="{9D8B030D-6E8A-4147-A177-3AD203B41FA5}">
                      <a16:colId xmlns:a16="http://schemas.microsoft.com/office/drawing/2014/main" val="2251441578"/>
                    </a:ext>
                  </a:extLst>
                </a:gridCol>
                <a:gridCol w="2066735">
                  <a:extLst>
                    <a:ext uri="{9D8B030D-6E8A-4147-A177-3AD203B41FA5}">
                      <a16:colId xmlns:a16="http://schemas.microsoft.com/office/drawing/2014/main" val="314878354"/>
                    </a:ext>
                  </a:extLst>
                </a:gridCol>
                <a:gridCol w="1670032">
                  <a:extLst>
                    <a:ext uri="{9D8B030D-6E8A-4147-A177-3AD203B41FA5}">
                      <a16:colId xmlns:a16="http://schemas.microsoft.com/office/drawing/2014/main" val="1075769305"/>
                    </a:ext>
                  </a:extLst>
                </a:gridCol>
                <a:gridCol w="1670032">
                  <a:extLst>
                    <a:ext uri="{9D8B030D-6E8A-4147-A177-3AD203B41FA5}">
                      <a16:colId xmlns:a16="http://schemas.microsoft.com/office/drawing/2014/main" val="33152158"/>
                    </a:ext>
                  </a:extLst>
                </a:gridCol>
              </a:tblGrid>
              <a:tr h="318347">
                <a:tc>
                  <a:txBody>
                    <a:bodyPr/>
                    <a:lstStyle/>
                    <a:p>
                      <a:r>
                        <a:rPr lang="en-US" sz="1600" dirty="0"/>
                        <a:t>Uplink Type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Uplink modes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PM Supported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Alpha test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Comment</a:t>
                      </a:r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316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ACACIA</a:t>
                      </a:r>
                      <a:r>
                        <a:rPr lang="en-US" sz="1600" dirty="0"/>
                        <a:t> 400G QSFPDD-ULH</a:t>
                      </a:r>
                      <a:endParaRPr lang="en-IL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ULH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▪ 400G ULH 75GHz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▪ 400G ULH 100GHz</a:t>
                      </a:r>
                    </a:p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▪ 400G ULH 150GH</a:t>
                      </a:r>
                      <a:r>
                        <a:rPr lang="en-US" sz="16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FEC Uncorrected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Optical PM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873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Fujitsu</a:t>
                      </a:r>
                      <a:r>
                        <a:rPr lang="en-US" sz="1600" dirty="0"/>
                        <a:t> 400G DD-DCO </a:t>
                      </a:r>
                      <a:r>
                        <a:rPr lang="en-US" sz="1600" dirty="0" err="1"/>
                        <a:t>OpenZR</a:t>
                      </a:r>
                      <a:r>
                        <a:rPr lang="en-US" sz="1600" dirty="0"/>
                        <a:t> -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4105S</a:t>
                      </a:r>
                      <a:endParaRPr lang="en-IL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400G ZR – 16QAM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FEC Uncorrected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Optical PM</a:t>
                      </a:r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339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5210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4A7BB-6C1E-4B02-B490-D9CD9EDE2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supported</a:t>
            </a:r>
            <a:endParaRPr lang="en-IL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B22EC3-13EC-49A5-836D-EAD94DA157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637660"/>
              </p:ext>
            </p:extLst>
          </p:nvPr>
        </p:nvGraphicFramePr>
        <p:xfrm>
          <a:off x="584825" y="947420"/>
          <a:ext cx="9713074" cy="5910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260">
                  <a:extLst>
                    <a:ext uri="{9D8B030D-6E8A-4147-A177-3AD203B41FA5}">
                      <a16:colId xmlns:a16="http://schemas.microsoft.com/office/drawing/2014/main" val="3011015038"/>
                    </a:ext>
                  </a:extLst>
                </a:gridCol>
                <a:gridCol w="1238060">
                  <a:extLst>
                    <a:ext uri="{9D8B030D-6E8A-4147-A177-3AD203B41FA5}">
                      <a16:colId xmlns:a16="http://schemas.microsoft.com/office/drawing/2014/main" val="3779021708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3400411555"/>
                    </a:ext>
                  </a:extLst>
                </a:gridCol>
                <a:gridCol w="2947924">
                  <a:extLst>
                    <a:ext uri="{9D8B030D-6E8A-4147-A177-3AD203B41FA5}">
                      <a16:colId xmlns:a16="http://schemas.microsoft.com/office/drawing/2014/main" val="1931400358"/>
                    </a:ext>
                  </a:extLst>
                </a:gridCol>
                <a:gridCol w="1790256">
                  <a:extLst>
                    <a:ext uri="{9D8B030D-6E8A-4147-A177-3AD203B41FA5}">
                      <a16:colId xmlns:a16="http://schemas.microsoft.com/office/drawing/2014/main" val="345649402"/>
                    </a:ext>
                  </a:extLst>
                </a:gridCol>
                <a:gridCol w="1492744">
                  <a:extLst>
                    <a:ext uri="{9D8B030D-6E8A-4147-A177-3AD203B41FA5}">
                      <a16:colId xmlns:a16="http://schemas.microsoft.com/office/drawing/2014/main" val="27600251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Client Signal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Form</a:t>
                      </a:r>
                      <a:r>
                        <a:rPr lang="en-US" sz="1600" baseline="0" dirty="0"/>
                        <a:t> Factor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PMD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Connector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Alpha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comment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4464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QSFPDD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</a:rPr>
                        <a:t>LR8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Duplex 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QSFPDD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Duplex 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91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QSFPDD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MPO16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816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QSFPDD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MPO12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16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QSFPDD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Duplex LC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814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QSFPDD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Duplex LC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642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050" dirty="0">
                        <a:highlight>
                          <a:srgbClr val="F6D33C"/>
                        </a:highlight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>
                        <a:highlight>
                          <a:srgbClr val="F6D33C"/>
                        </a:highlight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50" dirty="0">
                        <a:highlight>
                          <a:srgbClr val="F6D33C"/>
                        </a:highlight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6D33C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6D33C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6D33C"/>
                        </a:highlight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80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4x100G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QSFPDD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MPO12 with Breakout to 4x100G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815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4x100G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QSFPDD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DR4+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MPO12 with Breakout to 4x100G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945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4x100G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QSFPDD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4x100LR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MPO12 with Breakout to 4x100G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417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4x100G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QSFPDD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4x100FR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Duplex LC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Regeneration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239281"/>
                  </a:ext>
                </a:extLst>
              </a:tr>
              <a:tr h="22567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050" kern="1200" dirty="0">
                        <a:solidFill>
                          <a:schemeClr val="dk1"/>
                        </a:solidFill>
                        <a:highlight>
                          <a:srgbClr val="F6D33C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050" kern="1200" dirty="0">
                        <a:solidFill>
                          <a:schemeClr val="dk1"/>
                        </a:solidFill>
                        <a:highlight>
                          <a:srgbClr val="F6D33C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050" kern="1200" dirty="0">
                        <a:solidFill>
                          <a:schemeClr val="dk1"/>
                        </a:solidFill>
                        <a:highlight>
                          <a:srgbClr val="F6D33C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kern="1200" noProof="0" dirty="0">
                        <a:solidFill>
                          <a:schemeClr val="dk1"/>
                        </a:solidFill>
                        <a:highlight>
                          <a:srgbClr val="F6D33C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kern="1200" noProof="0" dirty="0">
                        <a:solidFill>
                          <a:schemeClr val="dk1"/>
                        </a:solidFill>
                        <a:highlight>
                          <a:srgbClr val="F6D33C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kern="1200" noProof="0" dirty="0">
                        <a:solidFill>
                          <a:schemeClr val="dk1"/>
                        </a:solidFill>
                        <a:highlight>
                          <a:srgbClr val="F6D33C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054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100G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QSFP28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Duplex 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66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OTU4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QSFP28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Duplex 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514664"/>
                  </a:ext>
                </a:extLst>
              </a:tr>
              <a:tr h="25126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050" kern="1200" dirty="0">
                        <a:solidFill>
                          <a:schemeClr val="dk1"/>
                        </a:solidFill>
                        <a:highlight>
                          <a:srgbClr val="F6D33C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050" kern="1200" dirty="0">
                        <a:solidFill>
                          <a:schemeClr val="dk1"/>
                        </a:solidFill>
                        <a:highlight>
                          <a:srgbClr val="F6D33C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050" kern="1200" dirty="0">
                        <a:solidFill>
                          <a:schemeClr val="dk1"/>
                        </a:solidFill>
                        <a:highlight>
                          <a:srgbClr val="F6D33C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kern="1200" noProof="0" dirty="0">
                        <a:solidFill>
                          <a:schemeClr val="dk1"/>
                        </a:solidFill>
                        <a:highlight>
                          <a:srgbClr val="F6D33C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kern="1200" noProof="0" dirty="0">
                        <a:solidFill>
                          <a:schemeClr val="dk1"/>
                        </a:solidFill>
                        <a:highlight>
                          <a:srgbClr val="F6D33C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kern="1200" noProof="0" dirty="0">
                        <a:solidFill>
                          <a:schemeClr val="dk1"/>
                        </a:solidFill>
                        <a:highlight>
                          <a:srgbClr val="F6D33C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24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100/400 DAC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need to be verified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4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0700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7B8A7-108D-43F1-B623-4CF9270BA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supported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94AD1-69DD-4952-A3B1-D83C97A8C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440" y="1296000"/>
            <a:ext cx="11660560" cy="4845720"/>
          </a:xfrm>
        </p:spPr>
        <p:txBody>
          <a:bodyPr>
            <a:normAutofit/>
          </a:bodyPr>
          <a:lstStyle/>
          <a:p>
            <a:r>
              <a:rPr lang="en-US" sz="2400" dirty="0"/>
              <a:t>Radius NAS identifier</a:t>
            </a:r>
          </a:p>
          <a:p>
            <a:r>
              <a:rPr lang="en-US" sz="2400" dirty="0"/>
              <a:t>CLI improvement – inventory, SNMP, XPDR, etc.</a:t>
            </a:r>
          </a:p>
          <a:p>
            <a:r>
              <a:rPr lang="en-US" sz="2400" dirty="0"/>
              <a:t>Optical switch- switching above 50mSec (takes more than 2 sec) – Fixed</a:t>
            </a:r>
          </a:p>
          <a:p>
            <a:r>
              <a:rPr lang="en-US" sz="2400" dirty="0"/>
              <a:t>Mix of Acacia and Fujitsu on the same product (GCC/ encryption according to system mode) </a:t>
            </a:r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301827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A003FD-2634-4645-9292-E6433426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Version </a:t>
            </a:r>
            <a:r>
              <a:rPr lang="en-US" dirty="0">
                <a:highlight>
                  <a:srgbClr val="FFFF00"/>
                </a:highlight>
              </a:rPr>
              <a:t>2.4.x / 3.1.x </a:t>
            </a:r>
            <a:endParaRPr lang="en-IL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7861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7B8A7-108D-43F1-B623-4CF9270BA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supported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94AD1-69DD-4952-A3B1-D83C97A8C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49256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4559334"/>
      </p:ext>
    </p:extLst>
  </p:cSld>
  <p:clrMapOvr>
    <a:masterClrMapping/>
  </p:clrMapOvr>
</p:sld>
</file>

<file path=ppt/theme/theme1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cketLight Presentation Template 2021 Options.potx" id="{ACB2CCE2-69CF-4EAF-9D54-BF8B7535BB11}" vid="{E55E47C1-EA93-4BCB-902D-CA77204F3B22}"/>
    </a:ext>
  </a:extLst>
</a:theme>
</file>

<file path=ppt/theme/theme2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cketLight Presentation Template 2021 Options.potx" id="{ACB2CCE2-69CF-4EAF-9D54-BF8B7535BB11}" vid="{C4E48ED7-ABF5-4434-9DDB-948E7653DE70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cketLight Presentation Template 2021 Options.potx" id="{ACB2CCE2-69CF-4EAF-9D54-BF8B7535BB11}" vid="{5E30749D-570C-4DE6-A6FF-22EFA99E00B7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cketLight Presentation Template 2021 Options.potx" id="{ACB2CCE2-69CF-4EAF-9D54-BF8B7535BB11}" vid="{04131995-DAF4-4475-98D7-7F52A3C6841A}"/>
    </a:ext>
  </a:extLst>
</a:theme>
</file>

<file path=ppt/theme/theme5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cketLight Presentation Template 2021 Options.potx" id="{ACB2CCE2-69CF-4EAF-9D54-BF8B7535BB11}" vid="{FC520011-6FE4-4039-A3E2-174B77923DFF}"/>
    </a:ext>
  </a:extLst>
</a:theme>
</file>

<file path=ppt/theme/theme6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cketLight Presentation Template 2021 Options.potx" id="{ACB2CCE2-69CF-4EAF-9D54-BF8B7535BB11}" vid="{199EB87E-B3C1-4850-8DF8-6D95D7E430C2}"/>
    </a:ext>
  </a:extLst>
</a:theme>
</file>

<file path=ppt/theme/theme7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cketLight Presentation Template 2021 Options.potx" id="{ACB2CCE2-69CF-4EAF-9D54-BF8B7535BB11}" vid="{0EF842FC-D122-467A-862C-4024995248E4}"/>
    </a:ext>
  </a:extLst>
</a:theme>
</file>

<file path=ppt/theme/theme8.xml><?xml version="1.0" encoding="utf-8"?>
<a:theme xmlns:a="http://schemas.openxmlformats.org/drawingml/2006/main" name="8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cketLight Presentation Template 2021 Options.potx" id="{ACB2CCE2-69CF-4EAF-9D54-BF8B7535BB11}" vid="{B37AA392-35D7-4A30-86FD-55D8CF1D2522}"/>
    </a:ext>
  </a:extLst>
</a:theme>
</file>

<file path=ppt/theme/theme9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cketLight Presentation Template 2021 Options.potx" id="{ACB2CCE2-69CF-4EAF-9D54-BF8B7535BB11}" vid="{56E8B317-EC08-4C82-B0D6-0224F6C5791C}"/>
    </a:ext>
  </a:extLst>
</a:theme>
</file>

<file path=ppt/theme/theme10.xml><?xml version="1.0" encoding="utf-8"?>
<a:theme xmlns:a="http://schemas.openxmlformats.org/drawingml/2006/main" name="1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cketLight Presentation Template 2021 Options.potx" id="{ACB2CCE2-69CF-4EAF-9D54-BF8B7535BB11}" vid="{A52D2550-5B4A-4B08-B114-252A00536203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PacketLight Presentation Template 2021</Template>
  <TotalTime>74501</TotalTime>
  <Words>1257</Words>
  <Application>Microsoft Office PowerPoint</Application>
  <PresentationFormat>Widescreen</PresentationFormat>
  <Paragraphs>515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21</vt:i4>
      </vt:variant>
    </vt:vector>
  </HeadingPairs>
  <TitlesOfParts>
    <vt:vector size="35" baseType="lpstr">
      <vt:lpstr>Arial</vt:lpstr>
      <vt:lpstr>Calibri</vt:lpstr>
      <vt:lpstr>Open Sans</vt:lpstr>
      <vt:lpstr>Wingdings</vt:lpstr>
      <vt:lpstr>7_Office Theme</vt:lpstr>
      <vt:lpstr>8_Office Theme</vt:lpstr>
      <vt:lpstr>Custom Design</vt:lpstr>
      <vt:lpstr>2_Custom Design</vt:lpstr>
      <vt:lpstr>4_Custom Design</vt:lpstr>
      <vt:lpstr>7_Custom Design</vt:lpstr>
      <vt:lpstr>6_Custom Design</vt:lpstr>
      <vt:lpstr>8_Custom Design</vt:lpstr>
      <vt:lpstr>3_Custom Design</vt:lpstr>
      <vt:lpstr>11_Custom Design</vt:lpstr>
      <vt:lpstr>PL-4000T Feature – Version Tracking</vt:lpstr>
      <vt:lpstr>Change log</vt:lpstr>
      <vt:lpstr>Front Panel View</vt:lpstr>
      <vt:lpstr>Interoperability with other devices</vt:lpstr>
      <vt:lpstr>PL-4000G – PL-4000T Interoperability </vt:lpstr>
      <vt:lpstr>GA - Version 2.2.22</vt:lpstr>
      <vt:lpstr>Uplink supported 1/3</vt:lpstr>
      <vt:lpstr>Uplink supported 2/3</vt:lpstr>
      <vt:lpstr>Uplink supported 3/3</vt:lpstr>
      <vt:lpstr>Client supported</vt:lpstr>
      <vt:lpstr>Feature added</vt:lpstr>
      <vt:lpstr>Version 2.3.x</vt:lpstr>
      <vt:lpstr>Uplink supported 1/3</vt:lpstr>
      <vt:lpstr>Uplink supported 2/3</vt:lpstr>
      <vt:lpstr>Uplink supported 3/3</vt:lpstr>
      <vt:lpstr>Uplink supported 3/3</vt:lpstr>
      <vt:lpstr>Client supported</vt:lpstr>
      <vt:lpstr>Feature supported</vt:lpstr>
      <vt:lpstr>Future Version 2.4.x / 3.1.x </vt:lpstr>
      <vt:lpstr>Feature supported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Presentation</dc:title>
  <dc:creator>Netanel Gal</dc:creator>
  <cp:lastModifiedBy>Netanel Gal</cp:lastModifiedBy>
  <cp:revision>608</cp:revision>
  <cp:lastPrinted>2023-10-15T05:23:14Z</cp:lastPrinted>
  <dcterms:created xsi:type="dcterms:W3CDTF">2023-08-20T04:31:58Z</dcterms:created>
  <dcterms:modified xsi:type="dcterms:W3CDTF">2026-01-01T11:34:34Z</dcterms:modified>
</cp:coreProperties>
</file>